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C65AE0-A907-4BF8-B226-2EB0ED7347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79DE84C-71E2-449A-A6F5-F958B802CCE4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-273240" y="-932760"/>
            <a:ext cx="10691640" cy="7560000"/>
          </a:xfrm>
          <a:custGeom>
            <a:avLst/>
            <a:gdLst/>
            <a:ahLst/>
            <a:rect l="0" t="0" r="r" b="b"/>
            <a:pathLst>
              <a:path w="29699" h="21000">
                <a:moveTo>
                  <a:pt x="0" y="0"/>
                </a:moveTo>
                <a:lnTo>
                  <a:pt x="29699" y="0"/>
                </a:lnTo>
                <a:lnTo>
                  <a:pt x="29699" y="21000"/>
                </a:lnTo>
                <a:lnTo>
                  <a:pt x="0" y="2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-273240" y="-932760"/>
            <a:ext cx="10691640" cy="7560000"/>
          </a:xfrm>
          <a:custGeom>
            <a:avLst/>
            <a:gdLst/>
            <a:ahLst/>
            <a:rect l="0" t="0" r="r" b="b"/>
            <a:pathLst>
              <a:path w="29699" h="21000">
                <a:moveTo>
                  <a:pt x="0" y="0"/>
                </a:moveTo>
                <a:lnTo>
                  <a:pt x="29699" y="0"/>
                </a:lnTo>
                <a:lnTo>
                  <a:pt x="29699" y="21000"/>
                </a:lnTo>
                <a:lnTo>
                  <a:pt x="0" y="21000"/>
                </a:lnTo>
                <a:lnTo>
                  <a:pt x="0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"/>
          <p:cNvPicPr/>
          <p:nvPr/>
        </p:nvPicPr>
        <p:blipFill>
          <a:blip r:embed="rId1"/>
          <a:stretch/>
        </p:blipFill>
        <p:spPr>
          <a:xfrm>
            <a:off x="-10964880" y="-790953120"/>
            <a:ext cx="10691280" cy="15875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"/>
          <p:cNvPicPr/>
          <p:nvPr/>
        </p:nvPicPr>
        <p:blipFill>
          <a:blip r:embed="rId2"/>
          <a:stretch/>
        </p:blipFill>
        <p:spPr>
          <a:xfrm>
            <a:off x="-273240" y="-790953120"/>
            <a:ext cx="10691280" cy="15875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"/>
          <p:cNvPicPr/>
          <p:nvPr/>
        </p:nvPicPr>
        <p:blipFill>
          <a:blip r:embed="rId3"/>
          <a:stretch/>
        </p:blipFill>
        <p:spPr>
          <a:xfrm>
            <a:off x="10418400" y="-790953120"/>
            <a:ext cx="10691640" cy="158759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"/>
          <p:cNvSpPr/>
          <p:nvPr/>
        </p:nvSpPr>
        <p:spPr>
          <a:xfrm>
            <a:off x="626400" y="3913200"/>
            <a:ext cx="8892720" cy="29160"/>
          </a:xfrm>
          <a:custGeom>
            <a:avLst/>
            <a:gdLst/>
            <a:ahLst/>
            <a:rect l="0" t="0" r="r" b="b"/>
            <a:pathLst>
              <a:path w="24702" h="81">
                <a:moveTo>
                  <a:pt x="0" y="0"/>
                </a:moveTo>
                <a:lnTo>
                  <a:pt x="24702" y="0"/>
                </a:lnTo>
                <a:lnTo>
                  <a:pt x="24702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90000" tIns="-15840" rIns="90000" bIns="-158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626760" y="895680"/>
            <a:ext cx="7339320" cy="72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20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HR ANALYTICS DASHBOARD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626760" y="1535760"/>
            <a:ext cx="4482360" cy="72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420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USING </a:t>
            </a:r>
            <a:r>
              <a:rPr lang="en-IN" sz="4200" b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POWER BI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626760" y="2378520"/>
            <a:ext cx="73144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1" u="none" strike="noStrike">
                <a:solidFill>
                  <a:srgbClr val="00A2ED"/>
                </a:solidFill>
                <a:effectLst/>
                <a:uFillTx/>
                <a:latin typeface="Noto Sans"/>
                <a:ea typeface="Noto Sans"/>
              </a:rPr>
              <a:t>Transforming Enterprise Workforce Data into Strategic Business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626760" y="2721240"/>
            <a:ext cx="136260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1" u="none" strike="noStrike">
                <a:solidFill>
                  <a:srgbClr val="00A2ED"/>
                </a:solidFill>
                <a:effectLst/>
                <a:uFillTx/>
                <a:latin typeface="Noto Sans"/>
                <a:ea typeface="Noto Sans"/>
              </a:rPr>
              <a:t>Intelligence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626760" y="4237200"/>
            <a:ext cx="8496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50" b="0" u="none" strike="noStrike">
                <a:solidFill>
                  <a:srgbClr val="8A9BA8"/>
                </a:solidFill>
                <a:effectLst/>
                <a:uFillTx/>
                <a:latin typeface="Noto Sans"/>
                <a:ea typeface="Noto Sans"/>
              </a:rPr>
              <a:t>SUBMITTED BY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26760" y="4449240"/>
            <a:ext cx="94176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Keerthika 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3590640" y="4237200"/>
            <a:ext cx="14407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50" b="0" u="none" strike="noStrike">
                <a:solidFill>
                  <a:srgbClr val="8A9BA8"/>
                </a:solidFill>
                <a:effectLst/>
                <a:uFillTx/>
                <a:latin typeface="Noto Sans"/>
                <a:ea typeface="Noto Sans"/>
              </a:rPr>
              <a:t>COURSE SPECIALIZATION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3590640" y="4449240"/>
            <a:ext cx="205956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MBA – Business Analytics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6554880" y="4237200"/>
            <a:ext cx="14436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50" b="0" u="none" strike="noStrike">
                <a:solidFill>
                  <a:srgbClr val="8A9BA8"/>
                </a:solidFill>
                <a:effectLst/>
                <a:uFillTx/>
                <a:latin typeface="Noto Sans"/>
                <a:ea typeface="Noto Sans"/>
              </a:rPr>
              <a:t>INSTITUTION HIERARCHY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554880" y="4449240"/>
            <a:ext cx="287676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Knowledge Institute of Technology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6554880" y="4696920"/>
            <a:ext cx="51084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(KIOT)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847800" y="623160"/>
            <a:ext cx="72720" cy="623520"/>
          </a:xfrm>
          <a:custGeom>
            <a:avLst/>
            <a:gdLst/>
            <a:ahLst/>
            <a:rect l="0" t="0" r="r" b="b"/>
            <a:pathLst>
              <a:path w="202" h="1732">
                <a:moveTo>
                  <a:pt x="0" y="0"/>
                </a:moveTo>
                <a:lnTo>
                  <a:pt x="202" y="0"/>
                </a:lnTo>
                <a:lnTo>
                  <a:pt x="202" y="1732"/>
                </a:lnTo>
                <a:lnTo>
                  <a:pt x="0" y="1732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6217200" y="1643040"/>
            <a:ext cx="3014640" cy="2401920"/>
          </a:xfrm>
          <a:custGeom>
            <a:avLst/>
            <a:gdLst/>
            <a:ahLst/>
            <a:rect l="0" t="0" r="r" b="b"/>
            <a:pathLst>
              <a:path w="8374" h="6672">
                <a:moveTo>
                  <a:pt x="8225" y="0"/>
                </a:moveTo>
                <a:cubicBezTo>
                  <a:pt x="8306" y="0"/>
                  <a:pt x="8374" y="56"/>
                  <a:pt x="8374" y="124"/>
                </a:cubicBezTo>
                <a:lnTo>
                  <a:pt x="8374" y="6547"/>
                </a:lnTo>
                <a:cubicBezTo>
                  <a:pt x="8374" y="6616"/>
                  <a:pt x="8306" y="6672"/>
                  <a:pt x="8225" y="6672"/>
                </a:cubicBezTo>
                <a:lnTo>
                  <a:pt x="150" y="6672"/>
                </a:lnTo>
                <a:cubicBezTo>
                  <a:pt x="68" y="6672"/>
                  <a:pt x="0" y="6616"/>
                  <a:pt x="0" y="6547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lnTo>
                  <a:pt x="8225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6217200" y="1643040"/>
            <a:ext cx="3014640" cy="2401920"/>
          </a:xfrm>
          <a:custGeom>
            <a:avLst/>
            <a:gdLst/>
            <a:ahLst/>
            <a:rect l="0" t="0" r="r" b="b"/>
            <a:pathLst>
              <a:path w="8374" h="6672">
                <a:moveTo>
                  <a:pt x="150" y="41"/>
                </a:moveTo>
                <a:lnTo>
                  <a:pt x="8225" y="41"/>
                </a:lnTo>
                <a:cubicBezTo>
                  <a:pt x="8279" y="41"/>
                  <a:pt x="8325" y="79"/>
                  <a:pt x="8325" y="124"/>
                </a:cubicBezTo>
                <a:lnTo>
                  <a:pt x="8325" y="6547"/>
                </a:lnTo>
                <a:cubicBezTo>
                  <a:pt x="8325" y="6593"/>
                  <a:pt x="8279" y="6630"/>
                  <a:pt x="8225" y="6630"/>
                </a:cubicBezTo>
                <a:lnTo>
                  <a:pt x="150" y="6630"/>
                </a:lnTo>
                <a:cubicBezTo>
                  <a:pt x="95" y="6630"/>
                  <a:pt x="49" y="6593"/>
                  <a:pt x="49" y="6547"/>
                </a:cubicBezTo>
                <a:lnTo>
                  <a:pt x="49" y="124"/>
                </a:lnTo>
                <a:cubicBezTo>
                  <a:pt x="49" y="79"/>
                  <a:pt x="95" y="41"/>
                  <a:pt x="150" y="41"/>
                </a:cubicBezTo>
                <a:moveTo>
                  <a:pt x="150" y="0"/>
                </a:moveTo>
                <a:lnTo>
                  <a:pt x="8225" y="0"/>
                </a:lnTo>
                <a:cubicBezTo>
                  <a:pt x="8306" y="0"/>
                  <a:pt x="8374" y="56"/>
                  <a:pt x="8374" y="124"/>
                </a:cubicBezTo>
                <a:lnTo>
                  <a:pt x="8374" y="6547"/>
                </a:lnTo>
                <a:cubicBezTo>
                  <a:pt x="8374" y="6616"/>
                  <a:pt x="8306" y="6672"/>
                  <a:pt x="8225" y="6672"/>
                </a:cubicBezTo>
                <a:lnTo>
                  <a:pt x="150" y="6672"/>
                </a:lnTo>
                <a:cubicBezTo>
                  <a:pt x="68" y="6672"/>
                  <a:pt x="0" y="6616"/>
                  <a:pt x="0" y="6547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055160" y="641880"/>
            <a:ext cx="5634720" cy="451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6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INTRODUCTION TO HR ANALYTICS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055160" y="1067040"/>
            <a:ext cx="5410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50" b="1" i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Bridging human capital performance with data-driven strategic insights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848160" y="1653120"/>
            <a:ext cx="45748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4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Human Resource Analytics is the systematic process of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848160" y="1863000"/>
            <a:ext cx="46940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4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collecting, modeling, and interpreting workforce data to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848160" y="2073240"/>
            <a:ext cx="4105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4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optimize organizational metrics and productivity.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848160" y="2451960"/>
            <a:ext cx="4881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Enterprise environments generate continuous, high-volume digital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848160" y="2624400"/>
            <a:ext cx="4836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data footprints across the entire employee lifecycle. Transforming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848160" y="2796840"/>
            <a:ext cx="4489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these disconnected rows of information into clear, actionable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848160" y="2969280"/>
            <a:ext cx="4479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reporting assets allows organizations to shift from subjective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848160" y="3142080"/>
            <a:ext cx="2591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intuition to precise tactical choices.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6439320" y="1836000"/>
            <a:ext cx="22957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AGGREGATED DATA STREAMS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6439320" y="2145240"/>
            <a:ext cx="2581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• Core Demographics: Multi-layered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6439320" y="2317680"/>
            <a:ext cx="2425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employee profiling data matrices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6439320" y="2490120"/>
            <a:ext cx="1212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across locations.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6439320" y="2747520"/>
            <a:ext cx="2541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• Financial Outlays: Complex salary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6439320" y="2920320"/>
            <a:ext cx="2405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packages, structural progression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439320" y="3093120"/>
            <a:ext cx="1484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bands, and bonuses.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439320" y="3350520"/>
            <a:ext cx="2299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• Engagement Lifecycles: Active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847800" y="5418360"/>
            <a:ext cx="8383680" cy="15480"/>
          </a:xfrm>
          <a:custGeom>
            <a:avLst/>
            <a:gdLst/>
            <a:ahLst/>
            <a:rect l="0" t="0" r="r" b="b"/>
            <a:pathLst>
              <a:path w="23288" h="43">
                <a:moveTo>
                  <a:pt x="0" y="0"/>
                </a:moveTo>
                <a:lnTo>
                  <a:pt x="23288" y="0"/>
                </a:lnTo>
                <a:lnTo>
                  <a:pt x="23288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439320" y="3522960"/>
            <a:ext cx="2307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satisfaction feedback loops and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6439320" y="3695400"/>
            <a:ext cx="2455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detailed structural attrition rows.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848160" y="5484240"/>
            <a:ext cx="19954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HR ANALYTICS DASHBOARD PROJECT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850960" y="5484240"/>
            <a:ext cx="404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SLIDE 2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847800" y="623160"/>
            <a:ext cx="72720" cy="623520"/>
          </a:xfrm>
          <a:custGeom>
            <a:avLst/>
            <a:gdLst/>
            <a:ahLst/>
            <a:rect l="0" t="0" r="r" b="b"/>
            <a:pathLst>
              <a:path w="202" h="1732">
                <a:moveTo>
                  <a:pt x="0" y="0"/>
                </a:moveTo>
                <a:lnTo>
                  <a:pt x="202" y="0"/>
                </a:lnTo>
                <a:lnTo>
                  <a:pt x="202" y="1732"/>
                </a:lnTo>
                <a:lnTo>
                  <a:pt x="0" y="1732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051560" y="1643040"/>
            <a:ext cx="2523600" cy="1669320"/>
          </a:xfrm>
          <a:custGeom>
            <a:avLst/>
            <a:gdLst/>
            <a:ahLst/>
            <a:rect l="0" t="0" r="r" b="b"/>
            <a:pathLst>
              <a:path w="7010" h="4637">
                <a:moveTo>
                  <a:pt x="6859" y="0"/>
                </a:moveTo>
                <a:cubicBezTo>
                  <a:pt x="6942" y="0"/>
                  <a:pt x="7010" y="56"/>
                  <a:pt x="7010" y="124"/>
                </a:cubicBezTo>
                <a:lnTo>
                  <a:pt x="7010" y="4512"/>
                </a:lnTo>
                <a:cubicBezTo>
                  <a:pt x="7010" y="4580"/>
                  <a:pt x="6942" y="4637"/>
                  <a:pt x="6859" y="4637"/>
                </a:cubicBezTo>
                <a:lnTo>
                  <a:pt x="150" y="4637"/>
                </a:lnTo>
                <a:cubicBezTo>
                  <a:pt x="68" y="4637"/>
                  <a:pt x="0" y="4580"/>
                  <a:pt x="0" y="4512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lnTo>
                  <a:pt x="6859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3777840" y="1643040"/>
            <a:ext cx="2523600" cy="1669320"/>
          </a:xfrm>
          <a:custGeom>
            <a:avLst/>
            <a:gdLst/>
            <a:ahLst/>
            <a:rect l="0" t="0" r="r" b="b"/>
            <a:pathLst>
              <a:path w="7010" h="4637">
                <a:moveTo>
                  <a:pt x="6860" y="0"/>
                </a:moveTo>
                <a:cubicBezTo>
                  <a:pt x="6942" y="0"/>
                  <a:pt x="7010" y="56"/>
                  <a:pt x="7010" y="124"/>
                </a:cubicBezTo>
                <a:lnTo>
                  <a:pt x="7010" y="4512"/>
                </a:lnTo>
                <a:cubicBezTo>
                  <a:pt x="7010" y="4580"/>
                  <a:pt x="6942" y="4637"/>
                  <a:pt x="6860" y="4637"/>
                </a:cubicBezTo>
                <a:lnTo>
                  <a:pt x="153" y="4637"/>
                </a:lnTo>
                <a:cubicBezTo>
                  <a:pt x="69" y="4637"/>
                  <a:pt x="0" y="4580"/>
                  <a:pt x="0" y="4512"/>
                </a:cubicBezTo>
                <a:lnTo>
                  <a:pt x="0" y="124"/>
                </a:lnTo>
                <a:cubicBezTo>
                  <a:pt x="0" y="56"/>
                  <a:pt x="69" y="0"/>
                  <a:pt x="153" y="0"/>
                </a:cubicBezTo>
                <a:lnTo>
                  <a:pt x="686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6504480" y="1643040"/>
            <a:ext cx="2523600" cy="1669320"/>
          </a:xfrm>
          <a:custGeom>
            <a:avLst/>
            <a:gdLst/>
            <a:ahLst/>
            <a:rect l="0" t="0" r="r" b="b"/>
            <a:pathLst>
              <a:path w="7010" h="4637">
                <a:moveTo>
                  <a:pt x="6860" y="0"/>
                </a:moveTo>
                <a:cubicBezTo>
                  <a:pt x="6942" y="0"/>
                  <a:pt x="7010" y="56"/>
                  <a:pt x="7010" y="124"/>
                </a:cubicBezTo>
                <a:lnTo>
                  <a:pt x="7010" y="4512"/>
                </a:lnTo>
                <a:cubicBezTo>
                  <a:pt x="7010" y="4580"/>
                  <a:pt x="6942" y="4637"/>
                  <a:pt x="6860" y="4637"/>
                </a:cubicBezTo>
                <a:lnTo>
                  <a:pt x="150" y="4637"/>
                </a:lnTo>
                <a:cubicBezTo>
                  <a:pt x="68" y="4637"/>
                  <a:pt x="0" y="4580"/>
                  <a:pt x="0" y="4512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lnTo>
                  <a:pt x="686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1051560" y="1643040"/>
            <a:ext cx="2523600" cy="1669320"/>
          </a:xfrm>
          <a:custGeom>
            <a:avLst/>
            <a:gdLst/>
            <a:ahLst/>
            <a:rect l="0" t="0" r="r" b="b"/>
            <a:pathLst>
              <a:path w="7010" h="4637">
                <a:moveTo>
                  <a:pt x="150" y="41"/>
                </a:moveTo>
                <a:lnTo>
                  <a:pt x="6859" y="41"/>
                </a:lnTo>
                <a:cubicBezTo>
                  <a:pt x="6915" y="41"/>
                  <a:pt x="6959" y="79"/>
                  <a:pt x="6959" y="124"/>
                </a:cubicBezTo>
                <a:lnTo>
                  <a:pt x="6959" y="4512"/>
                </a:lnTo>
                <a:cubicBezTo>
                  <a:pt x="6959" y="4557"/>
                  <a:pt x="6915" y="4595"/>
                  <a:pt x="6859" y="4595"/>
                </a:cubicBezTo>
                <a:lnTo>
                  <a:pt x="150" y="4595"/>
                </a:lnTo>
                <a:cubicBezTo>
                  <a:pt x="95" y="4595"/>
                  <a:pt x="49" y="4557"/>
                  <a:pt x="49" y="4512"/>
                </a:cubicBezTo>
                <a:lnTo>
                  <a:pt x="49" y="124"/>
                </a:lnTo>
                <a:cubicBezTo>
                  <a:pt x="49" y="79"/>
                  <a:pt x="95" y="41"/>
                  <a:pt x="150" y="41"/>
                </a:cubicBezTo>
                <a:moveTo>
                  <a:pt x="150" y="0"/>
                </a:moveTo>
                <a:lnTo>
                  <a:pt x="6859" y="0"/>
                </a:lnTo>
                <a:cubicBezTo>
                  <a:pt x="6942" y="0"/>
                  <a:pt x="7010" y="56"/>
                  <a:pt x="7010" y="124"/>
                </a:cubicBezTo>
                <a:lnTo>
                  <a:pt x="7010" y="4512"/>
                </a:lnTo>
                <a:cubicBezTo>
                  <a:pt x="7010" y="4580"/>
                  <a:pt x="6942" y="4637"/>
                  <a:pt x="6859" y="4637"/>
                </a:cubicBezTo>
                <a:lnTo>
                  <a:pt x="150" y="4637"/>
                </a:lnTo>
                <a:cubicBezTo>
                  <a:pt x="68" y="4637"/>
                  <a:pt x="0" y="4580"/>
                  <a:pt x="0" y="4512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3777840" y="1643040"/>
            <a:ext cx="2523600" cy="1669320"/>
          </a:xfrm>
          <a:custGeom>
            <a:avLst/>
            <a:gdLst/>
            <a:ahLst/>
            <a:rect l="0" t="0" r="r" b="b"/>
            <a:pathLst>
              <a:path w="7010" h="4637">
                <a:moveTo>
                  <a:pt x="153" y="41"/>
                </a:moveTo>
                <a:lnTo>
                  <a:pt x="6860" y="41"/>
                </a:lnTo>
                <a:cubicBezTo>
                  <a:pt x="6915" y="41"/>
                  <a:pt x="6959" y="79"/>
                  <a:pt x="6959" y="124"/>
                </a:cubicBezTo>
                <a:lnTo>
                  <a:pt x="6959" y="4512"/>
                </a:lnTo>
                <a:cubicBezTo>
                  <a:pt x="6959" y="4557"/>
                  <a:pt x="6915" y="4595"/>
                  <a:pt x="6860" y="4595"/>
                </a:cubicBezTo>
                <a:lnTo>
                  <a:pt x="153" y="4595"/>
                </a:lnTo>
                <a:cubicBezTo>
                  <a:pt x="96" y="4595"/>
                  <a:pt x="53" y="4557"/>
                  <a:pt x="53" y="4512"/>
                </a:cubicBezTo>
                <a:lnTo>
                  <a:pt x="53" y="124"/>
                </a:lnTo>
                <a:cubicBezTo>
                  <a:pt x="53" y="79"/>
                  <a:pt x="96" y="41"/>
                  <a:pt x="153" y="41"/>
                </a:cubicBezTo>
                <a:moveTo>
                  <a:pt x="153" y="0"/>
                </a:moveTo>
                <a:lnTo>
                  <a:pt x="6860" y="0"/>
                </a:lnTo>
                <a:cubicBezTo>
                  <a:pt x="6942" y="0"/>
                  <a:pt x="7010" y="56"/>
                  <a:pt x="7010" y="124"/>
                </a:cubicBezTo>
                <a:lnTo>
                  <a:pt x="7010" y="4512"/>
                </a:lnTo>
                <a:cubicBezTo>
                  <a:pt x="7010" y="4580"/>
                  <a:pt x="6942" y="4637"/>
                  <a:pt x="6860" y="4637"/>
                </a:cubicBezTo>
                <a:lnTo>
                  <a:pt x="153" y="4637"/>
                </a:lnTo>
                <a:cubicBezTo>
                  <a:pt x="69" y="4637"/>
                  <a:pt x="0" y="4580"/>
                  <a:pt x="0" y="4512"/>
                </a:cubicBezTo>
                <a:lnTo>
                  <a:pt x="0" y="124"/>
                </a:lnTo>
                <a:cubicBezTo>
                  <a:pt x="0" y="56"/>
                  <a:pt x="69" y="0"/>
                  <a:pt x="153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6504480" y="1643040"/>
            <a:ext cx="2523600" cy="1669320"/>
          </a:xfrm>
          <a:custGeom>
            <a:avLst/>
            <a:gdLst/>
            <a:ahLst/>
            <a:rect l="0" t="0" r="r" b="b"/>
            <a:pathLst>
              <a:path w="7010" h="4637">
                <a:moveTo>
                  <a:pt x="150" y="41"/>
                </a:moveTo>
                <a:lnTo>
                  <a:pt x="6860" y="41"/>
                </a:lnTo>
                <a:cubicBezTo>
                  <a:pt x="6915" y="41"/>
                  <a:pt x="6961" y="79"/>
                  <a:pt x="6961" y="124"/>
                </a:cubicBezTo>
                <a:lnTo>
                  <a:pt x="6961" y="4512"/>
                </a:lnTo>
                <a:cubicBezTo>
                  <a:pt x="6961" y="4557"/>
                  <a:pt x="6915" y="4595"/>
                  <a:pt x="6860" y="4595"/>
                </a:cubicBezTo>
                <a:lnTo>
                  <a:pt x="150" y="4595"/>
                </a:lnTo>
                <a:cubicBezTo>
                  <a:pt x="95" y="4595"/>
                  <a:pt x="51" y="4557"/>
                  <a:pt x="51" y="4512"/>
                </a:cubicBezTo>
                <a:lnTo>
                  <a:pt x="51" y="124"/>
                </a:lnTo>
                <a:cubicBezTo>
                  <a:pt x="51" y="79"/>
                  <a:pt x="95" y="41"/>
                  <a:pt x="150" y="41"/>
                </a:cubicBezTo>
                <a:moveTo>
                  <a:pt x="150" y="0"/>
                </a:moveTo>
                <a:lnTo>
                  <a:pt x="6860" y="0"/>
                </a:lnTo>
                <a:cubicBezTo>
                  <a:pt x="6942" y="0"/>
                  <a:pt x="7010" y="56"/>
                  <a:pt x="7010" y="124"/>
                </a:cubicBezTo>
                <a:lnTo>
                  <a:pt x="7010" y="4512"/>
                </a:lnTo>
                <a:cubicBezTo>
                  <a:pt x="7010" y="4580"/>
                  <a:pt x="6942" y="4637"/>
                  <a:pt x="6860" y="4637"/>
                </a:cubicBezTo>
                <a:lnTo>
                  <a:pt x="150" y="4637"/>
                </a:lnTo>
                <a:cubicBezTo>
                  <a:pt x="68" y="4637"/>
                  <a:pt x="0" y="4580"/>
                  <a:pt x="0" y="4512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847800" y="3538800"/>
            <a:ext cx="8383680" cy="982800"/>
          </a:xfrm>
          <a:custGeom>
            <a:avLst/>
            <a:gdLst/>
            <a:ahLst/>
            <a:rect l="0" t="0" r="r" b="b"/>
            <a:pathLst>
              <a:path w="23288" h="2730">
                <a:moveTo>
                  <a:pt x="23139" y="0"/>
                </a:moveTo>
                <a:cubicBezTo>
                  <a:pt x="23220" y="0"/>
                  <a:pt x="23288" y="56"/>
                  <a:pt x="23288" y="125"/>
                </a:cubicBezTo>
                <a:lnTo>
                  <a:pt x="23288" y="2604"/>
                </a:lnTo>
                <a:cubicBezTo>
                  <a:pt x="23288" y="2673"/>
                  <a:pt x="23220" y="2730"/>
                  <a:pt x="23139" y="2730"/>
                </a:cubicBezTo>
                <a:lnTo>
                  <a:pt x="150" y="2730"/>
                </a:lnTo>
                <a:cubicBezTo>
                  <a:pt x="68" y="2730"/>
                  <a:pt x="0" y="2673"/>
                  <a:pt x="0" y="2604"/>
                </a:cubicBezTo>
                <a:lnTo>
                  <a:pt x="0" y="125"/>
                </a:lnTo>
                <a:cubicBezTo>
                  <a:pt x="0" y="56"/>
                  <a:pt x="68" y="0"/>
                  <a:pt x="150" y="0"/>
                </a:cubicBezTo>
                <a:lnTo>
                  <a:pt x="23139" y="0"/>
                </a:ln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847800" y="3538800"/>
            <a:ext cx="8383680" cy="982800"/>
          </a:xfrm>
          <a:custGeom>
            <a:avLst/>
            <a:gdLst/>
            <a:ahLst/>
            <a:rect l="0" t="0" r="r" b="b"/>
            <a:pathLst>
              <a:path w="23288" h="2730">
                <a:moveTo>
                  <a:pt x="150" y="42"/>
                </a:moveTo>
                <a:lnTo>
                  <a:pt x="23139" y="42"/>
                </a:lnTo>
                <a:cubicBezTo>
                  <a:pt x="23194" y="42"/>
                  <a:pt x="23239" y="79"/>
                  <a:pt x="23239" y="125"/>
                </a:cubicBezTo>
                <a:lnTo>
                  <a:pt x="23239" y="2604"/>
                </a:lnTo>
                <a:cubicBezTo>
                  <a:pt x="23239" y="2650"/>
                  <a:pt x="23194" y="2688"/>
                  <a:pt x="23139" y="2688"/>
                </a:cubicBezTo>
                <a:lnTo>
                  <a:pt x="150" y="2688"/>
                </a:lnTo>
                <a:cubicBezTo>
                  <a:pt x="95" y="2688"/>
                  <a:pt x="49" y="2650"/>
                  <a:pt x="49" y="2604"/>
                </a:cubicBezTo>
                <a:lnTo>
                  <a:pt x="49" y="125"/>
                </a:lnTo>
                <a:cubicBezTo>
                  <a:pt x="49" y="79"/>
                  <a:pt x="95" y="42"/>
                  <a:pt x="150" y="42"/>
                </a:cubicBezTo>
                <a:moveTo>
                  <a:pt x="150" y="0"/>
                </a:moveTo>
                <a:lnTo>
                  <a:pt x="23139" y="0"/>
                </a:lnTo>
                <a:cubicBezTo>
                  <a:pt x="23220" y="0"/>
                  <a:pt x="23288" y="56"/>
                  <a:pt x="23288" y="125"/>
                </a:cubicBezTo>
                <a:lnTo>
                  <a:pt x="23288" y="2604"/>
                </a:lnTo>
                <a:cubicBezTo>
                  <a:pt x="23288" y="2673"/>
                  <a:pt x="23220" y="2730"/>
                  <a:pt x="23139" y="2730"/>
                </a:cubicBezTo>
                <a:lnTo>
                  <a:pt x="150" y="2730"/>
                </a:lnTo>
                <a:cubicBezTo>
                  <a:pt x="68" y="2730"/>
                  <a:pt x="0" y="2673"/>
                  <a:pt x="0" y="2604"/>
                </a:cubicBezTo>
                <a:lnTo>
                  <a:pt x="0" y="125"/>
                </a:lnTo>
                <a:cubicBezTo>
                  <a:pt x="0" y="56"/>
                  <a:pt x="68" y="0"/>
                  <a:pt x="150" y="0"/>
                </a:cubicBez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055160" y="641880"/>
            <a:ext cx="4219200" cy="451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6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PURPOSE OF THE PROJECT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1055160" y="1067040"/>
            <a:ext cx="7175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50" b="1" i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Why establish an integrated, visual business intelligence layer for human capital management?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273680" y="1836000"/>
            <a:ext cx="13158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DATA SYNTHESIS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273680" y="2144160"/>
            <a:ext cx="18864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Converts raw, unorganized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273680" y="2309400"/>
            <a:ext cx="17510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spreadsheet records into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273680" y="2474280"/>
            <a:ext cx="168156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unified relational views,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273680" y="2639160"/>
            <a:ext cx="20844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ensuring cross-filtering speed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273680" y="2804400"/>
            <a:ext cx="22032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and executive </a:t>
            </a:r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reporting clarity.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3999960" y="1836000"/>
            <a:ext cx="20707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RETENTION INTELLIGENCE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999960" y="2144160"/>
            <a:ext cx="19112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Uncovers complex attrition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3999960" y="2309400"/>
            <a:ext cx="166716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patterns and workplace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3999960" y="2474280"/>
            <a:ext cx="168336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satisfaction drops early,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3999960" y="2639160"/>
            <a:ext cx="21481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allowing management to build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3999960" y="2804400"/>
            <a:ext cx="145836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retention campaigns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3999960" y="2969280"/>
            <a:ext cx="82368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proactively.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726600" y="1836000"/>
            <a:ext cx="207648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STRATEGIC OPTIMIZATION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726600" y="2144160"/>
            <a:ext cx="181368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Fuels workforce planning,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6726600" y="2309400"/>
            <a:ext cx="198828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recruitment allocations, and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726600" y="2474280"/>
            <a:ext cx="19800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organizational development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6726600" y="2639160"/>
            <a:ext cx="20246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with clean metrics instead of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6726600" y="2804400"/>
            <a:ext cx="155268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subjective guesswork.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069920" y="3731760"/>
            <a:ext cx="230616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CORE STRATEGIC IMPERATIVE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847800" y="5418360"/>
            <a:ext cx="8383680" cy="15480"/>
          </a:xfrm>
          <a:custGeom>
            <a:avLst/>
            <a:gdLst/>
            <a:ahLst/>
            <a:rect l="0" t="0" r="r" b="b"/>
            <a:pathLst>
              <a:path w="23288" h="43">
                <a:moveTo>
                  <a:pt x="0" y="0"/>
                </a:moveTo>
                <a:lnTo>
                  <a:pt x="23288" y="0"/>
                </a:lnTo>
                <a:lnTo>
                  <a:pt x="23288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069920" y="3984120"/>
            <a:ext cx="8030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To move Human Resources away from isolated administrative silos and permanently establish it as a fully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069920" y="4164120"/>
            <a:ext cx="50000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aligned, value-driving engine of enterprise financial performance.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48160" y="5484240"/>
            <a:ext cx="19954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HR ANALYTICS DASHBOARD </a:t>
            </a:r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PROJECT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8850960" y="5484240"/>
            <a:ext cx="404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SLIDE 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847800" y="623160"/>
            <a:ext cx="72720" cy="623520"/>
          </a:xfrm>
          <a:custGeom>
            <a:avLst/>
            <a:gdLst/>
            <a:ahLst/>
            <a:rect l="0" t="0" r="r" b="b"/>
            <a:pathLst>
              <a:path w="202" h="1732">
                <a:moveTo>
                  <a:pt x="0" y="0"/>
                </a:moveTo>
                <a:lnTo>
                  <a:pt x="202" y="0"/>
                </a:lnTo>
                <a:lnTo>
                  <a:pt x="202" y="1732"/>
                </a:lnTo>
                <a:lnTo>
                  <a:pt x="0" y="1732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051560" y="1643040"/>
            <a:ext cx="3886560" cy="2754720"/>
          </a:xfrm>
          <a:custGeom>
            <a:avLst/>
            <a:gdLst/>
            <a:ahLst/>
            <a:rect l="0" t="0" r="r" b="b"/>
            <a:pathLst>
              <a:path w="10796" h="7652">
                <a:moveTo>
                  <a:pt x="10647" y="0"/>
                </a:moveTo>
                <a:cubicBezTo>
                  <a:pt x="10729" y="0"/>
                  <a:pt x="10796" y="56"/>
                  <a:pt x="10796" y="124"/>
                </a:cubicBezTo>
                <a:lnTo>
                  <a:pt x="10796" y="7527"/>
                </a:lnTo>
                <a:cubicBezTo>
                  <a:pt x="10796" y="7596"/>
                  <a:pt x="10729" y="7652"/>
                  <a:pt x="10647" y="7652"/>
                </a:cubicBezTo>
                <a:lnTo>
                  <a:pt x="150" y="7652"/>
                </a:lnTo>
                <a:cubicBezTo>
                  <a:pt x="68" y="7652"/>
                  <a:pt x="0" y="7596"/>
                  <a:pt x="0" y="7527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lnTo>
                  <a:pt x="10647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140800" y="1643040"/>
            <a:ext cx="3886920" cy="2754720"/>
          </a:xfrm>
          <a:custGeom>
            <a:avLst/>
            <a:gdLst/>
            <a:ahLst/>
            <a:rect l="0" t="0" r="r" b="b"/>
            <a:pathLst>
              <a:path w="10797" h="7652">
                <a:moveTo>
                  <a:pt x="10648" y="0"/>
                </a:moveTo>
                <a:cubicBezTo>
                  <a:pt x="10730" y="0"/>
                  <a:pt x="10797" y="56"/>
                  <a:pt x="10797" y="124"/>
                </a:cubicBezTo>
                <a:lnTo>
                  <a:pt x="10797" y="7527"/>
                </a:lnTo>
                <a:cubicBezTo>
                  <a:pt x="10797" y="7596"/>
                  <a:pt x="10730" y="7652"/>
                  <a:pt x="10648" y="7652"/>
                </a:cubicBezTo>
                <a:lnTo>
                  <a:pt x="151" y="7652"/>
                </a:lnTo>
                <a:cubicBezTo>
                  <a:pt x="68" y="7652"/>
                  <a:pt x="0" y="7596"/>
                  <a:pt x="0" y="7527"/>
                </a:cubicBezTo>
                <a:lnTo>
                  <a:pt x="0" y="124"/>
                </a:lnTo>
                <a:cubicBezTo>
                  <a:pt x="0" y="56"/>
                  <a:pt x="68" y="0"/>
                  <a:pt x="151" y="0"/>
                </a:cubicBezTo>
                <a:lnTo>
                  <a:pt x="10648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1051560" y="1643040"/>
            <a:ext cx="3886560" cy="2754720"/>
          </a:xfrm>
          <a:custGeom>
            <a:avLst/>
            <a:gdLst/>
            <a:ahLst/>
            <a:rect l="0" t="0" r="r" b="b"/>
            <a:pathLst>
              <a:path w="10796" h="7652">
                <a:moveTo>
                  <a:pt x="150" y="41"/>
                </a:moveTo>
                <a:lnTo>
                  <a:pt x="10647" y="41"/>
                </a:lnTo>
                <a:cubicBezTo>
                  <a:pt x="10701" y="41"/>
                  <a:pt x="10747" y="79"/>
                  <a:pt x="10747" y="124"/>
                </a:cubicBezTo>
                <a:lnTo>
                  <a:pt x="10747" y="7527"/>
                </a:lnTo>
                <a:cubicBezTo>
                  <a:pt x="10747" y="7573"/>
                  <a:pt x="10701" y="7610"/>
                  <a:pt x="10647" y="7610"/>
                </a:cubicBezTo>
                <a:lnTo>
                  <a:pt x="150" y="7610"/>
                </a:lnTo>
                <a:cubicBezTo>
                  <a:pt x="95" y="7610"/>
                  <a:pt x="49" y="7573"/>
                  <a:pt x="49" y="7527"/>
                </a:cubicBezTo>
                <a:lnTo>
                  <a:pt x="49" y="124"/>
                </a:lnTo>
                <a:cubicBezTo>
                  <a:pt x="49" y="79"/>
                  <a:pt x="95" y="41"/>
                  <a:pt x="150" y="41"/>
                </a:cubicBezTo>
                <a:moveTo>
                  <a:pt x="150" y="0"/>
                </a:moveTo>
                <a:lnTo>
                  <a:pt x="10647" y="0"/>
                </a:lnTo>
                <a:cubicBezTo>
                  <a:pt x="10729" y="0"/>
                  <a:pt x="10796" y="56"/>
                  <a:pt x="10796" y="124"/>
                </a:cubicBezTo>
                <a:lnTo>
                  <a:pt x="10796" y="7527"/>
                </a:lnTo>
                <a:cubicBezTo>
                  <a:pt x="10796" y="7596"/>
                  <a:pt x="10729" y="7652"/>
                  <a:pt x="10647" y="7652"/>
                </a:cubicBezTo>
                <a:lnTo>
                  <a:pt x="150" y="7652"/>
                </a:lnTo>
                <a:cubicBezTo>
                  <a:pt x="68" y="7652"/>
                  <a:pt x="0" y="7596"/>
                  <a:pt x="0" y="7527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5140800" y="1643040"/>
            <a:ext cx="3886920" cy="2754720"/>
          </a:xfrm>
          <a:custGeom>
            <a:avLst/>
            <a:gdLst/>
            <a:ahLst/>
            <a:rect l="0" t="0" r="r" b="b"/>
            <a:pathLst>
              <a:path w="10797" h="7652">
                <a:moveTo>
                  <a:pt x="151" y="41"/>
                </a:moveTo>
                <a:lnTo>
                  <a:pt x="10648" y="41"/>
                </a:lnTo>
                <a:cubicBezTo>
                  <a:pt x="10702" y="41"/>
                  <a:pt x="10748" y="79"/>
                  <a:pt x="10748" y="124"/>
                </a:cubicBezTo>
                <a:lnTo>
                  <a:pt x="10748" y="7527"/>
                </a:lnTo>
                <a:cubicBezTo>
                  <a:pt x="10748" y="7573"/>
                  <a:pt x="10702" y="7610"/>
                  <a:pt x="10648" y="7610"/>
                </a:cubicBezTo>
                <a:lnTo>
                  <a:pt x="151" y="7610"/>
                </a:lnTo>
                <a:cubicBezTo>
                  <a:pt x="95" y="7610"/>
                  <a:pt x="51" y="7573"/>
                  <a:pt x="51" y="7527"/>
                </a:cubicBezTo>
                <a:lnTo>
                  <a:pt x="51" y="124"/>
                </a:lnTo>
                <a:cubicBezTo>
                  <a:pt x="51" y="79"/>
                  <a:pt x="95" y="41"/>
                  <a:pt x="151" y="41"/>
                </a:cubicBezTo>
                <a:moveTo>
                  <a:pt x="151" y="0"/>
                </a:moveTo>
                <a:lnTo>
                  <a:pt x="10648" y="0"/>
                </a:lnTo>
                <a:cubicBezTo>
                  <a:pt x="10730" y="0"/>
                  <a:pt x="10797" y="56"/>
                  <a:pt x="10797" y="124"/>
                </a:cubicBezTo>
                <a:lnTo>
                  <a:pt x="10797" y="7527"/>
                </a:lnTo>
                <a:cubicBezTo>
                  <a:pt x="10797" y="7596"/>
                  <a:pt x="10730" y="7652"/>
                  <a:pt x="10648" y="7652"/>
                </a:cubicBezTo>
                <a:lnTo>
                  <a:pt x="151" y="7652"/>
                </a:lnTo>
                <a:cubicBezTo>
                  <a:pt x="68" y="7652"/>
                  <a:pt x="0" y="7596"/>
                  <a:pt x="0" y="7527"/>
                </a:cubicBezTo>
                <a:lnTo>
                  <a:pt x="0" y="124"/>
                </a:lnTo>
                <a:cubicBezTo>
                  <a:pt x="0" y="56"/>
                  <a:pt x="68" y="0"/>
                  <a:pt x="151" y="0"/>
                </a:cubicBez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1055160" y="641880"/>
            <a:ext cx="5587200" cy="451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6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PROJECT OBJECTIVES FRAMEWORK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055160" y="1067040"/>
            <a:ext cx="5140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50" b="1" i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Defining discrete tactical parameters and high-level structural goals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273680" y="1836000"/>
            <a:ext cx="260604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PRIMARY OPERATIONAL TARGETS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1443240" y="2144160"/>
            <a:ext cx="34459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Demographics Ingestion: Deep workforce sorting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443240" y="2309400"/>
            <a:ext cx="271476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by age, gender, and regional branches.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1443240" y="2559240"/>
            <a:ext cx="34628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Attrition Quantification: Isolating exact quarterly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443240" y="2724480"/>
            <a:ext cx="201888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trends and turnover metrics.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443240" y="2974320"/>
            <a:ext cx="31320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Sentiment Benchmarking: Indexing localized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443240" y="3139560"/>
            <a:ext cx="27979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office environmental and role feedback.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443240" y="3389400"/>
            <a:ext cx="31039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Compensation Governance: Auditing reward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443240" y="3554640"/>
            <a:ext cx="29520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scales against empirical evaluation bands.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443240" y="3804480"/>
            <a:ext cx="342036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Diversity Milestones: Driving comprehensive and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443240" y="3969720"/>
            <a:ext cx="20768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actionable inclusion profiling.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5363280" y="1836000"/>
            <a:ext cx="296496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SECONDARY STRATEGIC FOCUS AREAS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5532840" y="2144160"/>
            <a:ext cx="264168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Maximize HR Business Agility: Moving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532840" y="2309400"/>
            <a:ext cx="30553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administrative groups into insight-powered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5532840" y="2474280"/>
            <a:ext cx="207936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strategic consulting partners.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5532840" y="2724480"/>
            <a:ext cx="330876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Targeted Talent Guardrails: Constructing direct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5532840" y="2889360"/>
            <a:ext cx="31147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warning flags inside volatile positions facing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5532840" y="3054240"/>
            <a:ext cx="14526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steep turnover risks.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5532840" y="3304440"/>
            <a:ext cx="33858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Pipeline Tracking: Assessing continuous training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5532840" y="3469320"/>
            <a:ext cx="311436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outcomes and organizational career velocity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5532840" y="3634560"/>
            <a:ext cx="4352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paths.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1359360" y="2144160"/>
            <a:ext cx="1314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•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359360" y="2559240"/>
            <a:ext cx="1314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•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359360" y="2974320"/>
            <a:ext cx="1314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•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359360" y="3389400"/>
            <a:ext cx="1314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•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359360" y="3804480"/>
            <a:ext cx="1314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•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5448960" y="2144160"/>
            <a:ext cx="1314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•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847800" y="5418360"/>
            <a:ext cx="8383680" cy="15480"/>
          </a:xfrm>
          <a:custGeom>
            <a:avLst/>
            <a:gdLst/>
            <a:ahLst/>
            <a:rect l="0" t="0" r="r" b="b"/>
            <a:pathLst>
              <a:path w="23288" h="43">
                <a:moveTo>
                  <a:pt x="0" y="0"/>
                </a:moveTo>
                <a:lnTo>
                  <a:pt x="23288" y="0"/>
                </a:lnTo>
                <a:lnTo>
                  <a:pt x="23288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5448960" y="2724480"/>
            <a:ext cx="1314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•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5448960" y="3304440"/>
            <a:ext cx="1314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•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848160" y="5484240"/>
            <a:ext cx="19954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HR ANALYTICS DASHBOARD PROJECT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8850960" y="5484240"/>
            <a:ext cx="404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SLIDE 4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847800" y="623160"/>
            <a:ext cx="72720" cy="623520"/>
          </a:xfrm>
          <a:custGeom>
            <a:avLst/>
            <a:gdLst/>
            <a:ahLst/>
            <a:rect l="0" t="0" r="r" b="b"/>
            <a:pathLst>
              <a:path w="202" h="1732">
                <a:moveTo>
                  <a:pt x="0" y="0"/>
                </a:moveTo>
                <a:lnTo>
                  <a:pt x="202" y="0"/>
                </a:lnTo>
                <a:lnTo>
                  <a:pt x="202" y="1732"/>
                </a:lnTo>
                <a:lnTo>
                  <a:pt x="0" y="1732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847800" y="1643040"/>
            <a:ext cx="8383680" cy="3497040"/>
          </a:xfrm>
          <a:custGeom>
            <a:avLst/>
            <a:gdLst/>
            <a:ahLst/>
            <a:rect l="0" t="0" r="r" b="b"/>
            <a:pathLst>
              <a:path w="23288" h="9714">
                <a:moveTo>
                  <a:pt x="23089" y="0"/>
                </a:moveTo>
                <a:cubicBezTo>
                  <a:pt x="23199" y="0"/>
                  <a:pt x="23288" y="75"/>
                  <a:pt x="23288" y="166"/>
                </a:cubicBezTo>
                <a:lnTo>
                  <a:pt x="23288" y="9547"/>
                </a:lnTo>
                <a:cubicBezTo>
                  <a:pt x="23288" y="9638"/>
                  <a:pt x="23199" y="9714"/>
                  <a:pt x="23089" y="9714"/>
                </a:cubicBezTo>
                <a:lnTo>
                  <a:pt x="199" y="9714"/>
                </a:lnTo>
                <a:cubicBezTo>
                  <a:pt x="90" y="9714"/>
                  <a:pt x="0" y="9638"/>
                  <a:pt x="0" y="9547"/>
                </a:cubicBezTo>
                <a:lnTo>
                  <a:pt x="0" y="166"/>
                </a:lnTo>
                <a:cubicBezTo>
                  <a:pt x="0" y="75"/>
                  <a:pt x="90" y="0"/>
                  <a:pt x="199" y="0"/>
                </a:cubicBezTo>
                <a:lnTo>
                  <a:pt x="23089" y="0"/>
                </a:ln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1323000" y="2040120"/>
            <a:ext cx="1706040" cy="2702880"/>
          </a:xfrm>
          <a:custGeom>
            <a:avLst/>
            <a:gdLst/>
            <a:ahLst/>
            <a:rect l="0" t="0" r="r" b="b"/>
            <a:pathLst>
              <a:path w="4739" h="7508">
                <a:moveTo>
                  <a:pt x="4614" y="0"/>
                </a:moveTo>
                <a:cubicBezTo>
                  <a:pt x="4684" y="0"/>
                  <a:pt x="4739" y="46"/>
                  <a:pt x="4739" y="104"/>
                </a:cubicBezTo>
                <a:lnTo>
                  <a:pt x="4739" y="7404"/>
                </a:lnTo>
                <a:cubicBezTo>
                  <a:pt x="4739" y="7461"/>
                  <a:pt x="4684" y="7508"/>
                  <a:pt x="4614" y="7508"/>
                </a:cubicBezTo>
                <a:lnTo>
                  <a:pt x="125" y="7508"/>
                </a:lnTo>
                <a:cubicBezTo>
                  <a:pt x="57" y="7508"/>
                  <a:pt x="0" y="7461"/>
                  <a:pt x="0" y="7404"/>
                </a:cubicBezTo>
                <a:lnTo>
                  <a:pt x="0" y="104"/>
                </a:lnTo>
                <a:cubicBezTo>
                  <a:pt x="0" y="46"/>
                  <a:pt x="57" y="0"/>
                  <a:pt x="125" y="0"/>
                </a:cubicBezTo>
                <a:lnTo>
                  <a:pt x="4614" y="0"/>
                </a:lnTo>
                <a:close/>
              </a:path>
            </a:pathLst>
          </a:custGeom>
          <a:solidFill>
            <a:srgbClr val="101F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3232440" y="2040120"/>
            <a:ext cx="1705680" cy="2702880"/>
          </a:xfrm>
          <a:custGeom>
            <a:avLst/>
            <a:gdLst/>
            <a:ahLst/>
            <a:rect l="0" t="0" r="r" b="b"/>
            <a:pathLst>
              <a:path w="4738" h="7508">
                <a:moveTo>
                  <a:pt x="4613" y="0"/>
                </a:moveTo>
                <a:cubicBezTo>
                  <a:pt x="4683" y="0"/>
                  <a:pt x="4738" y="46"/>
                  <a:pt x="4738" y="104"/>
                </a:cubicBezTo>
                <a:lnTo>
                  <a:pt x="4738" y="7404"/>
                </a:lnTo>
                <a:cubicBezTo>
                  <a:pt x="4738" y="7461"/>
                  <a:pt x="4683" y="7508"/>
                  <a:pt x="4613" y="7508"/>
                </a:cubicBezTo>
                <a:lnTo>
                  <a:pt x="124" y="7508"/>
                </a:lnTo>
                <a:cubicBezTo>
                  <a:pt x="55" y="7508"/>
                  <a:pt x="0" y="7461"/>
                  <a:pt x="0" y="7404"/>
                </a:cubicBezTo>
                <a:lnTo>
                  <a:pt x="0" y="104"/>
                </a:lnTo>
                <a:cubicBezTo>
                  <a:pt x="0" y="46"/>
                  <a:pt x="55" y="0"/>
                  <a:pt x="124" y="0"/>
                </a:cubicBezTo>
                <a:lnTo>
                  <a:pt x="4613" y="0"/>
                </a:lnTo>
                <a:close/>
              </a:path>
            </a:pathLst>
          </a:custGeom>
          <a:solidFill>
            <a:srgbClr val="101F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5140800" y="2040120"/>
            <a:ext cx="1706400" cy="2702880"/>
          </a:xfrm>
          <a:custGeom>
            <a:avLst/>
            <a:gdLst/>
            <a:ahLst/>
            <a:rect l="0" t="0" r="r" b="b"/>
            <a:pathLst>
              <a:path w="4740" h="7508">
                <a:moveTo>
                  <a:pt x="4615" y="0"/>
                </a:moveTo>
                <a:cubicBezTo>
                  <a:pt x="4684" y="0"/>
                  <a:pt x="4740" y="46"/>
                  <a:pt x="4740" y="104"/>
                </a:cubicBezTo>
                <a:lnTo>
                  <a:pt x="4740" y="7404"/>
                </a:lnTo>
                <a:cubicBezTo>
                  <a:pt x="4740" y="7461"/>
                  <a:pt x="4684" y="7508"/>
                  <a:pt x="4615" y="7508"/>
                </a:cubicBezTo>
                <a:lnTo>
                  <a:pt x="126" y="7508"/>
                </a:lnTo>
                <a:cubicBezTo>
                  <a:pt x="57" y="7508"/>
                  <a:pt x="0" y="7461"/>
                  <a:pt x="0" y="7404"/>
                </a:cubicBezTo>
                <a:lnTo>
                  <a:pt x="0" y="104"/>
                </a:lnTo>
                <a:cubicBezTo>
                  <a:pt x="0" y="46"/>
                  <a:pt x="57" y="0"/>
                  <a:pt x="126" y="0"/>
                </a:cubicBezTo>
                <a:lnTo>
                  <a:pt x="4615" y="0"/>
                </a:lnTo>
                <a:close/>
              </a:path>
            </a:pathLst>
          </a:custGeom>
          <a:solidFill>
            <a:srgbClr val="101F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7050240" y="2040120"/>
            <a:ext cx="1706400" cy="2702880"/>
          </a:xfrm>
          <a:custGeom>
            <a:avLst/>
            <a:gdLst/>
            <a:ahLst/>
            <a:rect l="0" t="0" r="r" b="b"/>
            <a:pathLst>
              <a:path w="4740" h="7508">
                <a:moveTo>
                  <a:pt x="4616" y="0"/>
                </a:moveTo>
                <a:cubicBezTo>
                  <a:pt x="4684" y="0"/>
                  <a:pt x="4740" y="46"/>
                  <a:pt x="4740" y="104"/>
                </a:cubicBezTo>
                <a:lnTo>
                  <a:pt x="4740" y="7404"/>
                </a:lnTo>
                <a:cubicBezTo>
                  <a:pt x="4740" y="7461"/>
                  <a:pt x="4684" y="7508"/>
                  <a:pt x="4616" y="7508"/>
                </a:cubicBezTo>
                <a:lnTo>
                  <a:pt x="125" y="7508"/>
                </a:lnTo>
                <a:cubicBezTo>
                  <a:pt x="57" y="7508"/>
                  <a:pt x="0" y="7461"/>
                  <a:pt x="0" y="7404"/>
                </a:cubicBezTo>
                <a:lnTo>
                  <a:pt x="0" y="104"/>
                </a:lnTo>
                <a:cubicBezTo>
                  <a:pt x="0" y="46"/>
                  <a:pt x="57" y="0"/>
                  <a:pt x="125" y="0"/>
                </a:cubicBezTo>
                <a:lnTo>
                  <a:pt x="4616" y="0"/>
                </a:lnTo>
                <a:close/>
              </a:path>
            </a:pathLst>
          </a:custGeom>
          <a:solidFill>
            <a:srgbClr val="101F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323000" y="2040120"/>
            <a:ext cx="1706040" cy="2702880"/>
          </a:xfrm>
          <a:custGeom>
            <a:avLst/>
            <a:gdLst/>
            <a:ahLst/>
            <a:rect l="0" t="0" r="r" b="b"/>
            <a:pathLst>
              <a:path w="4739" h="7508">
                <a:moveTo>
                  <a:pt x="125" y="41"/>
                </a:moveTo>
                <a:lnTo>
                  <a:pt x="4614" y="41"/>
                </a:lnTo>
                <a:cubicBezTo>
                  <a:pt x="4656" y="41"/>
                  <a:pt x="4689" y="69"/>
                  <a:pt x="4689" y="104"/>
                </a:cubicBezTo>
                <a:lnTo>
                  <a:pt x="4689" y="7404"/>
                </a:lnTo>
                <a:cubicBezTo>
                  <a:pt x="4689" y="7438"/>
                  <a:pt x="4656" y="7467"/>
                  <a:pt x="4614" y="7467"/>
                </a:cubicBezTo>
                <a:lnTo>
                  <a:pt x="125" y="7467"/>
                </a:lnTo>
                <a:cubicBezTo>
                  <a:pt x="84" y="7467"/>
                  <a:pt x="49" y="7438"/>
                  <a:pt x="49" y="7404"/>
                </a:cubicBezTo>
                <a:lnTo>
                  <a:pt x="49" y="104"/>
                </a:lnTo>
                <a:cubicBezTo>
                  <a:pt x="49" y="69"/>
                  <a:pt x="84" y="41"/>
                  <a:pt x="125" y="41"/>
                </a:cubicBezTo>
                <a:moveTo>
                  <a:pt x="125" y="0"/>
                </a:moveTo>
                <a:lnTo>
                  <a:pt x="4614" y="0"/>
                </a:lnTo>
                <a:cubicBezTo>
                  <a:pt x="4684" y="0"/>
                  <a:pt x="4739" y="46"/>
                  <a:pt x="4739" y="104"/>
                </a:cubicBezTo>
                <a:lnTo>
                  <a:pt x="4739" y="7404"/>
                </a:lnTo>
                <a:cubicBezTo>
                  <a:pt x="4739" y="7461"/>
                  <a:pt x="4684" y="7508"/>
                  <a:pt x="4614" y="7508"/>
                </a:cubicBezTo>
                <a:lnTo>
                  <a:pt x="125" y="7508"/>
                </a:lnTo>
                <a:cubicBezTo>
                  <a:pt x="57" y="7508"/>
                  <a:pt x="0" y="7461"/>
                  <a:pt x="0" y="7404"/>
                </a:cubicBezTo>
                <a:lnTo>
                  <a:pt x="0" y="104"/>
                </a:lnTo>
                <a:cubicBezTo>
                  <a:pt x="0" y="46"/>
                  <a:pt x="57" y="0"/>
                  <a:pt x="125" y="0"/>
                </a:cubicBez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3232440" y="2040120"/>
            <a:ext cx="1705680" cy="2702880"/>
          </a:xfrm>
          <a:custGeom>
            <a:avLst/>
            <a:gdLst/>
            <a:ahLst/>
            <a:rect l="0" t="0" r="r" b="b"/>
            <a:pathLst>
              <a:path w="4738" h="7508">
                <a:moveTo>
                  <a:pt x="124" y="41"/>
                </a:moveTo>
                <a:lnTo>
                  <a:pt x="4613" y="41"/>
                </a:lnTo>
                <a:cubicBezTo>
                  <a:pt x="4654" y="41"/>
                  <a:pt x="4689" y="69"/>
                  <a:pt x="4689" y="104"/>
                </a:cubicBezTo>
                <a:lnTo>
                  <a:pt x="4689" y="7404"/>
                </a:lnTo>
                <a:cubicBezTo>
                  <a:pt x="4689" y="7438"/>
                  <a:pt x="4654" y="7467"/>
                  <a:pt x="4613" y="7467"/>
                </a:cubicBezTo>
                <a:lnTo>
                  <a:pt x="124" y="7467"/>
                </a:lnTo>
                <a:cubicBezTo>
                  <a:pt x="82" y="7467"/>
                  <a:pt x="48" y="7438"/>
                  <a:pt x="48" y="7404"/>
                </a:cubicBezTo>
                <a:lnTo>
                  <a:pt x="48" y="104"/>
                </a:lnTo>
                <a:cubicBezTo>
                  <a:pt x="48" y="69"/>
                  <a:pt x="82" y="41"/>
                  <a:pt x="124" y="41"/>
                </a:cubicBezTo>
                <a:moveTo>
                  <a:pt x="124" y="0"/>
                </a:moveTo>
                <a:lnTo>
                  <a:pt x="4613" y="0"/>
                </a:lnTo>
                <a:cubicBezTo>
                  <a:pt x="4683" y="0"/>
                  <a:pt x="4738" y="46"/>
                  <a:pt x="4738" y="104"/>
                </a:cubicBezTo>
                <a:lnTo>
                  <a:pt x="4738" y="7404"/>
                </a:lnTo>
                <a:cubicBezTo>
                  <a:pt x="4738" y="7461"/>
                  <a:pt x="4683" y="7508"/>
                  <a:pt x="4613" y="7508"/>
                </a:cubicBezTo>
                <a:lnTo>
                  <a:pt x="124" y="7508"/>
                </a:lnTo>
                <a:cubicBezTo>
                  <a:pt x="55" y="7508"/>
                  <a:pt x="0" y="7461"/>
                  <a:pt x="0" y="7404"/>
                </a:cubicBezTo>
                <a:lnTo>
                  <a:pt x="0" y="104"/>
                </a:lnTo>
                <a:cubicBezTo>
                  <a:pt x="0" y="46"/>
                  <a:pt x="55" y="0"/>
                  <a:pt x="124" y="0"/>
                </a:cubicBez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5140800" y="2040120"/>
            <a:ext cx="1706400" cy="2702880"/>
          </a:xfrm>
          <a:custGeom>
            <a:avLst/>
            <a:gdLst/>
            <a:ahLst/>
            <a:rect l="0" t="0" r="r" b="b"/>
            <a:pathLst>
              <a:path w="4740" h="7508">
                <a:moveTo>
                  <a:pt x="126" y="41"/>
                </a:moveTo>
                <a:lnTo>
                  <a:pt x="4615" y="41"/>
                </a:lnTo>
                <a:cubicBezTo>
                  <a:pt x="4656" y="41"/>
                  <a:pt x="4691" y="69"/>
                  <a:pt x="4691" y="104"/>
                </a:cubicBezTo>
                <a:lnTo>
                  <a:pt x="4691" y="7404"/>
                </a:lnTo>
                <a:cubicBezTo>
                  <a:pt x="4691" y="7438"/>
                  <a:pt x="4656" y="7467"/>
                  <a:pt x="4615" y="7467"/>
                </a:cubicBezTo>
                <a:lnTo>
                  <a:pt x="126" y="7467"/>
                </a:lnTo>
                <a:cubicBezTo>
                  <a:pt x="84" y="7467"/>
                  <a:pt x="51" y="7438"/>
                  <a:pt x="51" y="7404"/>
                </a:cubicBezTo>
                <a:lnTo>
                  <a:pt x="51" y="104"/>
                </a:lnTo>
                <a:cubicBezTo>
                  <a:pt x="51" y="69"/>
                  <a:pt x="84" y="41"/>
                  <a:pt x="126" y="41"/>
                </a:cubicBezTo>
                <a:moveTo>
                  <a:pt x="126" y="0"/>
                </a:moveTo>
                <a:lnTo>
                  <a:pt x="4615" y="0"/>
                </a:lnTo>
                <a:cubicBezTo>
                  <a:pt x="4684" y="0"/>
                  <a:pt x="4740" y="46"/>
                  <a:pt x="4740" y="104"/>
                </a:cubicBezTo>
                <a:lnTo>
                  <a:pt x="4740" y="7404"/>
                </a:lnTo>
                <a:cubicBezTo>
                  <a:pt x="4740" y="7461"/>
                  <a:pt x="4684" y="7508"/>
                  <a:pt x="4615" y="7508"/>
                </a:cubicBezTo>
                <a:lnTo>
                  <a:pt x="126" y="7508"/>
                </a:lnTo>
                <a:cubicBezTo>
                  <a:pt x="57" y="7508"/>
                  <a:pt x="0" y="7461"/>
                  <a:pt x="0" y="7404"/>
                </a:cubicBezTo>
                <a:lnTo>
                  <a:pt x="0" y="104"/>
                </a:lnTo>
                <a:cubicBezTo>
                  <a:pt x="0" y="46"/>
                  <a:pt x="57" y="0"/>
                  <a:pt x="126" y="0"/>
                </a:cubicBez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7050240" y="2040120"/>
            <a:ext cx="1706400" cy="2702880"/>
          </a:xfrm>
          <a:custGeom>
            <a:avLst/>
            <a:gdLst/>
            <a:ahLst/>
            <a:rect l="0" t="0" r="r" b="b"/>
            <a:pathLst>
              <a:path w="4740" h="7508">
                <a:moveTo>
                  <a:pt x="125" y="41"/>
                </a:moveTo>
                <a:lnTo>
                  <a:pt x="4616" y="41"/>
                </a:lnTo>
                <a:cubicBezTo>
                  <a:pt x="4656" y="41"/>
                  <a:pt x="4691" y="69"/>
                  <a:pt x="4691" y="104"/>
                </a:cubicBezTo>
                <a:lnTo>
                  <a:pt x="4691" y="7404"/>
                </a:lnTo>
                <a:cubicBezTo>
                  <a:pt x="4691" y="7438"/>
                  <a:pt x="4656" y="7467"/>
                  <a:pt x="4616" y="7467"/>
                </a:cubicBezTo>
                <a:lnTo>
                  <a:pt x="125" y="7467"/>
                </a:lnTo>
                <a:cubicBezTo>
                  <a:pt x="84" y="7467"/>
                  <a:pt x="51" y="7438"/>
                  <a:pt x="51" y="7404"/>
                </a:cubicBezTo>
                <a:lnTo>
                  <a:pt x="51" y="104"/>
                </a:lnTo>
                <a:cubicBezTo>
                  <a:pt x="51" y="69"/>
                  <a:pt x="84" y="41"/>
                  <a:pt x="125" y="41"/>
                </a:cubicBezTo>
                <a:moveTo>
                  <a:pt x="125" y="0"/>
                </a:moveTo>
                <a:lnTo>
                  <a:pt x="4616" y="0"/>
                </a:lnTo>
                <a:cubicBezTo>
                  <a:pt x="4684" y="0"/>
                  <a:pt x="4740" y="46"/>
                  <a:pt x="4740" y="104"/>
                </a:cubicBezTo>
                <a:lnTo>
                  <a:pt x="4740" y="7404"/>
                </a:lnTo>
                <a:cubicBezTo>
                  <a:pt x="4740" y="7461"/>
                  <a:pt x="4684" y="7508"/>
                  <a:pt x="4616" y="7508"/>
                </a:cubicBezTo>
                <a:lnTo>
                  <a:pt x="125" y="7508"/>
                </a:lnTo>
                <a:cubicBezTo>
                  <a:pt x="57" y="7508"/>
                  <a:pt x="0" y="7461"/>
                  <a:pt x="0" y="7404"/>
                </a:cubicBezTo>
                <a:lnTo>
                  <a:pt x="0" y="104"/>
                </a:lnTo>
                <a:cubicBezTo>
                  <a:pt x="0" y="46"/>
                  <a:pt x="57" y="0"/>
                  <a:pt x="125" y="0"/>
                </a:cubicBez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1510560" y="2598480"/>
            <a:ext cx="1331280" cy="15480"/>
          </a:xfrm>
          <a:custGeom>
            <a:avLst/>
            <a:gdLst/>
            <a:ahLst/>
            <a:rect l="0" t="0" r="r" b="b"/>
            <a:pathLst>
              <a:path w="3698" h="43">
                <a:moveTo>
                  <a:pt x="0" y="0"/>
                </a:moveTo>
                <a:lnTo>
                  <a:pt x="3698" y="0"/>
                </a:lnTo>
                <a:lnTo>
                  <a:pt x="3698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3419640" y="2598480"/>
            <a:ext cx="1331280" cy="15480"/>
          </a:xfrm>
          <a:custGeom>
            <a:avLst/>
            <a:gdLst/>
            <a:ahLst/>
            <a:rect l="0" t="0" r="r" b="b"/>
            <a:pathLst>
              <a:path w="3698" h="43">
                <a:moveTo>
                  <a:pt x="0" y="0"/>
                </a:moveTo>
                <a:lnTo>
                  <a:pt x="3698" y="0"/>
                </a:lnTo>
                <a:lnTo>
                  <a:pt x="3698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5328720" y="2598480"/>
            <a:ext cx="1331280" cy="15480"/>
          </a:xfrm>
          <a:custGeom>
            <a:avLst/>
            <a:gdLst/>
            <a:ahLst/>
            <a:rect l="0" t="0" r="r" b="b"/>
            <a:pathLst>
              <a:path w="3698" h="43">
                <a:moveTo>
                  <a:pt x="0" y="0"/>
                </a:moveTo>
                <a:lnTo>
                  <a:pt x="3698" y="0"/>
                </a:lnTo>
                <a:lnTo>
                  <a:pt x="3698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7238160" y="2770920"/>
            <a:ext cx="1330920" cy="15480"/>
          </a:xfrm>
          <a:custGeom>
            <a:avLst/>
            <a:gdLst/>
            <a:ahLst/>
            <a:rect l="0" t="0" r="r" b="b"/>
            <a:pathLst>
              <a:path w="3697" h="43">
                <a:moveTo>
                  <a:pt x="0" y="0"/>
                </a:moveTo>
                <a:lnTo>
                  <a:pt x="3697" y="0"/>
                </a:lnTo>
                <a:lnTo>
                  <a:pt x="3697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1055160" y="641880"/>
            <a:ext cx="5819760" cy="451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6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DATASET ARCHITECTURE OVERVIEW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054800" y="1067040"/>
            <a:ext cx="5364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50" b="1" i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Ingested corporate structures, schema systems, and key field inventory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511280" y="2205360"/>
            <a:ext cx="927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1. EMPLOYEE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511280" y="2377800"/>
            <a:ext cx="1103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OFFICE SURVEY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1511280" y="2733840"/>
            <a:ext cx="11530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Employee ID [PK -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1511280" y="2891160"/>
            <a:ext cx="315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text]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1511280" y="3105360"/>
            <a:ext cx="10767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Office Code [FK -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511280" y="3263040"/>
            <a:ext cx="315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text]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1511280" y="3477240"/>
            <a:ext cx="1028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Rated Year [int]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1511280" y="3691440"/>
            <a:ext cx="733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Rating [int,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1511280" y="3849120"/>
            <a:ext cx="606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scale 1-5]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3420360" y="2205360"/>
            <a:ext cx="1173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2. HR EMPLOYEE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3420360" y="2377800"/>
            <a:ext cx="787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CORE BASE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3420360" y="2733840"/>
            <a:ext cx="11530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Employee ID [PK -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3420360" y="2891160"/>
            <a:ext cx="315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text]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3420360" y="3105360"/>
            <a:ext cx="1266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Department &amp; Role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3420360" y="3263040"/>
            <a:ext cx="359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[text]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3420360" y="3477240"/>
            <a:ext cx="907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Age &amp; Gender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3420360" y="3634920"/>
            <a:ext cx="679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Attributes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3420360" y="3849120"/>
            <a:ext cx="992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Salary &amp; Equity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3420360" y="4006440"/>
            <a:ext cx="6220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Packages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3420360" y="4220640"/>
            <a:ext cx="635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His</a:t>
            </a:r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tori</a:t>
            </a:r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cal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3420360" y="4378320"/>
            <a:ext cx="857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Performance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5329440" y="2205360"/>
            <a:ext cx="1183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3. JOB POSITION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5329440" y="2377800"/>
            <a:ext cx="842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HIERARCHY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5329440" y="2733840"/>
            <a:ext cx="11347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Department [PK -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5329440" y="2891160"/>
            <a:ext cx="315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text]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5329080" y="3105360"/>
            <a:ext cx="9190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Job Level [PK -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5329440" y="3263040"/>
            <a:ext cx="227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int]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5329440" y="3477240"/>
            <a:ext cx="944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Functional Job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5329440" y="3634920"/>
            <a:ext cx="682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Role [text]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7238520" y="2205360"/>
            <a:ext cx="672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4. OFFICE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7238520" y="2377800"/>
            <a:ext cx="961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GE</a:t>
            </a:r>
            <a:r>
              <a:rPr lang="en-IN" sz="1150" b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OG</a:t>
            </a:r>
            <a:r>
              <a:rPr lang="en-IN" sz="1150" b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RA</a:t>
            </a:r>
            <a:r>
              <a:rPr lang="en-IN" sz="1150" b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PHI</a:t>
            </a:r>
            <a:r>
              <a:rPr lang="en-IN" sz="1150" b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C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7238520" y="2550240"/>
            <a:ext cx="582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MASTER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7238520" y="2906280"/>
            <a:ext cx="1086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Office Code [PK -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7238520" y="3063600"/>
            <a:ext cx="315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text]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7238520" y="3278160"/>
            <a:ext cx="1024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Assigned City &amp;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7238520" y="3435840"/>
            <a:ext cx="574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Province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847800" y="5418360"/>
            <a:ext cx="8383680" cy="15480"/>
          </a:xfrm>
          <a:custGeom>
            <a:avLst/>
            <a:gdLst/>
            <a:ahLst/>
            <a:rect l="0" t="0" r="r" b="b"/>
            <a:pathLst>
              <a:path w="23288" h="43">
                <a:moveTo>
                  <a:pt x="0" y="0"/>
                </a:moveTo>
                <a:lnTo>
                  <a:pt x="23288" y="0"/>
                </a:lnTo>
                <a:lnTo>
                  <a:pt x="23288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7238520" y="3649680"/>
            <a:ext cx="1003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Target Country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7238520" y="3807360"/>
            <a:ext cx="414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Origin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848160" y="5484240"/>
            <a:ext cx="19954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HR ANALYTICS DASHBOARD PROJECT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8850960" y="5484240"/>
            <a:ext cx="404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SLIDE 5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847800" y="623160"/>
            <a:ext cx="72720" cy="623520"/>
          </a:xfrm>
          <a:custGeom>
            <a:avLst/>
            <a:gdLst/>
            <a:ahLst/>
            <a:rect l="0" t="0" r="r" b="b"/>
            <a:pathLst>
              <a:path w="202" h="1732">
                <a:moveTo>
                  <a:pt x="0" y="0"/>
                </a:moveTo>
                <a:lnTo>
                  <a:pt x="202" y="0"/>
                </a:lnTo>
                <a:lnTo>
                  <a:pt x="202" y="1732"/>
                </a:lnTo>
                <a:lnTo>
                  <a:pt x="0" y="1732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5378760" y="1643040"/>
            <a:ext cx="3852720" cy="2586600"/>
          </a:xfrm>
          <a:custGeom>
            <a:avLst/>
            <a:gdLst/>
            <a:ahLst/>
            <a:rect l="0" t="0" r="r" b="b"/>
            <a:pathLst>
              <a:path w="10702" h="7185">
                <a:moveTo>
                  <a:pt x="10503" y="0"/>
                </a:moveTo>
                <a:cubicBezTo>
                  <a:pt x="10613" y="0"/>
                  <a:pt x="10702" y="75"/>
                  <a:pt x="10702" y="166"/>
                </a:cubicBezTo>
                <a:lnTo>
                  <a:pt x="10702" y="7018"/>
                </a:lnTo>
                <a:cubicBezTo>
                  <a:pt x="10702" y="7110"/>
                  <a:pt x="10613" y="7185"/>
                  <a:pt x="10503" y="7185"/>
                </a:cubicBezTo>
                <a:lnTo>
                  <a:pt x="199" y="7185"/>
                </a:lnTo>
                <a:cubicBezTo>
                  <a:pt x="90" y="7185"/>
                  <a:pt x="0" y="7110"/>
                  <a:pt x="0" y="7018"/>
                </a:cubicBezTo>
                <a:lnTo>
                  <a:pt x="0" y="166"/>
                </a:lnTo>
                <a:cubicBezTo>
                  <a:pt x="0" y="75"/>
                  <a:pt x="90" y="0"/>
                  <a:pt x="199" y="0"/>
                </a:cubicBezTo>
                <a:lnTo>
                  <a:pt x="10503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5378760" y="1643040"/>
            <a:ext cx="3852720" cy="2586600"/>
          </a:xfrm>
          <a:custGeom>
            <a:avLst/>
            <a:gdLst/>
            <a:ahLst/>
            <a:rect l="0" t="0" r="r" b="b"/>
            <a:pathLst>
              <a:path w="10702" h="7185">
                <a:moveTo>
                  <a:pt x="199" y="41"/>
                </a:moveTo>
                <a:lnTo>
                  <a:pt x="10503" y="41"/>
                </a:lnTo>
                <a:cubicBezTo>
                  <a:pt x="10585" y="41"/>
                  <a:pt x="10653" y="97"/>
                  <a:pt x="10653" y="166"/>
                </a:cubicBezTo>
                <a:lnTo>
                  <a:pt x="10653" y="7018"/>
                </a:lnTo>
                <a:cubicBezTo>
                  <a:pt x="10653" y="7087"/>
                  <a:pt x="10585" y="7143"/>
                  <a:pt x="10503" y="7143"/>
                </a:cubicBezTo>
                <a:lnTo>
                  <a:pt x="199" y="7143"/>
                </a:lnTo>
                <a:cubicBezTo>
                  <a:pt x="117" y="7143"/>
                  <a:pt x="49" y="7087"/>
                  <a:pt x="49" y="7018"/>
                </a:cubicBezTo>
                <a:lnTo>
                  <a:pt x="49" y="166"/>
                </a:lnTo>
                <a:cubicBezTo>
                  <a:pt x="49" y="97"/>
                  <a:pt x="117" y="41"/>
                  <a:pt x="199" y="41"/>
                </a:cubicBezTo>
                <a:moveTo>
                  <a:pt x="199" y="0"/>
                </a:moveTo>
                <a:lnTo>
                  <a:pt x="10503" y="0"/>
                </a:lnTo>
                <a:cubicBezTo>
                  <a:pt x="10613" y="0"/>
                  <a:pt x="10702" y="75"/>
                  <a:pt x="10702" y="166"/>
                </a:cubicBezTo>
                <a:lnTo>
                  <a:pt x="10702" y="7018"/>
                </a:lnTo>
                <a:cubicBezTo>
                  <a:pt x="10702" y="7110"/>
                  <a:pt x="10613" y="7185"/>
                  <a:pt x="10503" y="7185"/>
                </a:cubicBezTo>
                <a:lnTo>
                  <a:pt x="199" y="7185"/>
                </a:lnTo>
                <a:cubicBezTo>
                  <a:pt x="90" y="7185"/>
                  <a:pt x="0" y="7110"/>
                  <a:pt x="0" y="7018"/>
                </a:cubicBezTo>
                <a:lnTo>
                  <a:pt x="0" y="166"/>
                </a:lnTo>
                <a:cubicBezTo>
                  <a:pt x="0" y="75"/>
                  <a:pt x="90" y="0"/>
                  <a:pt x="199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1055160" y="641880"/>
            <a:ext cx="7158240" cy="451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6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RELATIONAL DATA MODELING IN POWER BI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055160" y="1067040"/>
            <a:ext cx="6140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50" b="1" i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Establishing relational schema integrity for high-speed cross-filtering dashboards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848160" y="1653120"/>
            <a:ext cx="23918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4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Relational Cardinality Layout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848160" y="2031840"/>
            <a:ext cx="3272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• Employee ID Association Link: Connects the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848160" y="2204280"/>
            <a:ext cx="3462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centralized master core attributes directly with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848160" y="2376720"/>
            <a:ext cx="3844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individual annual multi-point office survey lines (1 to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848160" y="2549160"/>
            <a:ext cx="876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many path).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848160" y="2835360"/>
            <a:ext cx="3941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• Geographic Normalization: Normalizes diverse office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848160" y="3007800"/>
            <a:ext cx="3947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structures against individual locations, enabling clean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848160" y="3180240"/>
            <a:ext cx="2601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country-level executive drill-downs.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848160" y="3466440"/>
            <a:ext cx="3455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• Composite Job Architecture: References cross-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848160" y="3638880"/>
            <a:ext cx="3855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functional Department + Level matrices to clean text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848160" y="3811320"/>
            <a:ext cx="3306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descriptions of job responsibilities and ranks.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5668560" y="1892880"/>
            <a:ext cx="294984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BI ARCHITECTURE EDGE ADVANTAGES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5668560" y="2217600"/>
            <a:ext cx="174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DejaVu Sans"/>
                <a:ea typeface="DejaVu Sans"/>
              </a:rPr>
              <a:t>✔ 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5832000" y="2201760"/>
            <a:ext cx="2338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Zero Redundancy: Strict schema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5668560" y="2379240"/>
            <a:ext cx="3244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normalization prevents conflicting duplicate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5668560" y="2551680"/>
            <a:ext cx="1992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values across global tables.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5668560" y="2853360"/>
            <a:ext cx="174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DejaVu Sans"/>
                <a:ea typeface="DejaVu Sans"/>
              </a:rPr>
              <a:t>✔ 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5832000" y="2837520"/>
            <a:ext cx="2948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Sub-Second Rendering: Highly optimized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5668560" y="3015000"/>
            <a:ext cx="3367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data engines ensure instant cross-slide metric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5668560" y="3187440"/>
            <a:ext cx="1031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update speed.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5668560" y="3489120"/>
            <a:ext cx="174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DejaVu Sans"/>
                <a:ea typeface="DejaVu Sans"/>
              </a:rPr>
              <a:t>✔ 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5832000" y="3473280"/>
            <a:ext cx="2981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Integrated Slicing: Evaluates satisfaction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847800" y="5418360"/>
            <a:ext cx="8383680" cy="15480"/>
          </a:xfrm>
          <a:custGeom>
            <a:avLst/>
            <a:gdLst/>
            <a:ahLst/>
            <a:rect l="0" t="0" r="r" b="b"/>
            <a:pathLst>
              <a:path w="23288" h="43">
                <a:moveTo>
                  <a:pt x="0" y="0"/>
                </a:moveTo>
                <a:lnTo>
                  <a:pt x="23288" y="0"/>
                </a:lnTo>
                <a:lnTo>
                  <a:pt x="23288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5668560" y="3650760"/>
            <a:ext cx="3470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ratings, pay bands, and exit indicators together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5668560" y="3823200"/>
            <a:ext cx="2170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cleanly with single selections.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848160" y="5484240"/>
            <a:ext cx="19954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HR ANALYTICS DASHBOARD PROJECT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8850960" y="5484240"/>
            <a:ext cx="404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SLIDE 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847800" y="623160"/>
            <a:ext cx="72720" cy="623520"/>
          </a:xfrm>
          <a:custGeom>
            <a:avLst/>
            <a:gdLst/>
            <a:ahLst/>
            <a:rect l="0" t="0" r="r" b="b"/>
            <a:pathLst>
              <a:path w="202" h="1732">
                <a:moveTo>
                  <a:pt x="0" y="0"/>
                </a:moveTo>
                <a:lnTo>
                  <a:pt x="202" y="0"/>
                </a:lnTo>
                <a:lnTo>
                  <a:pt x="202" y="1732"/>
                </a:lnTo>
                <a:lnTo>
                  <a:pt x="0" y="1732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1017720" y="1643040"/>
            <a:ext cx="1883880" cy="1029240"/>
          </a:xfrm>
          <a:custGeom>
            <a:avLst/>
            <a:gdLst/>
            <a:ahLst/>
            <a:rect l="0" t="0" r="r" b="b"/>
            <a:pathLst>
              <a:path w="5233" h="2859">
                <a:moveTo>
                  <a:pt x="5084" y="0"/>
                </a:moveTo>
                <a:cubicBezTo>
                  <a:pt x="5167" y="0"/>
                  <a:pt x="5233" y="56"/>
                  <a:pt x="5233" y="124"/>
                </a:cubicBezTo>
                <a:lnTo>
                  <a:pt x="5233" y="2734"/>
                </a:lnTo>
                <a:cubicBezTo>
                  <a:pt x="5233" y="2802"/>
                  <a:pt x="5167" y="2859"/>
                  <a:pt x="5084" y="2859"/>
                </a:cubicBezTo>
                <a:lnTo>
                  <a:pt x="149" y="2859"/>
                </a:lnTo>
                <a:cubicBezTo>
                  <a:pt x="68" y="2859"/>
                  <a:pt x="0" y="2802"/>
                  <a:pt x="0" y="2734"/>
                </a:cubicBezTo>
                <a:lnTo>
                  <a:pt x="0" y="124"/>
                </a:lnTo>
                <a:cubicBezTo>
                  <a:pt x="0" y="56"/>
                  <a:pt x="68" y="0"/>
                  <a:pt x="149" y="0"/>
                </a:cubicBezTo>
                <a:lnTo>
                  <a:pt x="508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3070800" y="1643040"/>
            <a:ext cx="1884960" cy="1029240"/>
          </a:xfrm>
          <a:custGeom>
            <a:avLst/>
            <a:gdLst/>
            <a:ahLst/>
            <a:rect l="0" t="0" r="r" b="b"/>
            <a:pathLst>
              <a:path w="5236" h="2859">
                <a:moveTo>
                  <a:pt x="5086" y="0"/>
                </a:moveTo>
                <a:cubicBezTo>
                  <a:pt x="5168" y="0"/>
                  <a:pt x="5236" y="56"/>
                  <a:pt x="5236" y="124"/>
                </a:cubicBezTo>
                <a:lnTo>
                  <a:pt x="5236" y="2734"/>
                </a:lnTo>
                <a:cubicBezTo>
                  <a:pt x="5236" y="2802"/>
                  <a:pt x="5168" y="2859"/>
                  <a:pt x="5086" y="2859"/>
                </a:cubicBezTo>
                <a:lnTo>
                  <a:pt x="150" y="2859"/>
                </a:lnTo>
                <a:cubicBezTo>
                  <a:pt x="68" y="2859"/>
                  <a:pt x="0" y="2802"/>
                  <a:pt x="0" y="2734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lnTo>
                  <a:pt x="508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5123880" y="1643040"/>
            <a:ext cx="1884960" cy="1029240"/>
          </a:xfrm>
          <a:custGeom>
            <a:avLst/>
            <a:gdLst/>
            <a:ahLst/>
            <a:rect l="0" t="0" r="r" b="b"/>
            <a:pathLst>
              <a:path w="5236" h="2859">
                <a:moveTo>
                  <a:pt x="5086" y="0"/>
                </a:moveTo>
                <a:cubicBezTo>
                  <a:pt x="5168" y="0"/>
                  <a:pt x="5236" y="56"/>
                  <a:pt x="5236" y="124"/>
                </a:cubicBezTo>
                <a:lnTo>
                  <a:pt x="5236" y="2734"/>
                </a:lnTo>
                <a:cubicBezTo>
                  <a:pt x="5236" y="2802"/>
                  <a:pt x="5168" y="2859"/>
                  <a:pt x="5086" y="2859"/>
                </a:cubicBezTo>
                <a:lnTo>
                  <a:pt x="150" y="2859"/>
                </a:lnTo>
                <a:cubicBezTo>
                  <a:pt x="68" y="2859"/>
                  <a:pt x="0" y="2802"/>
                  <a:pt x="0" y="2734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lnTo>
                  <a:pt x="508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7178040" y="1643040"/>
            <a:ext cx="1883520" cy="1029240"/>
          </a:xfrm>
          <a:custGeom>
            <a:avLst/>
            <a:gdLst/>
            <a:ahLst/>
            <a:rect l="0" t="0" r="r" b="b"/>
            <a:pathLst>
              <a:path w="5232" h="2859">
                <a:moveTo>
                  <a:pt x="5084" y="0"/>
                </a:moveTo>
                <a:cubicBezTo>
                  <a:pt x="5166" y="0"/>
                  <a:pt x="5232" y="56"/>
                  <a:pt x="5232" y="124"/>
                </a:cubicBezTo>
                <a:lnTo>
                  <a:pt x="5232" y="2734"/>
                </a:lnTo>
                <a:cubicBezTo>
                  <a:pt x="5232" y="2802"/>
                  <a:pt x="5166" y="2859"/>
                  <a:pt x="5084" y="2859"/>
                </a:cubicBezTo>
                <a:lnTo>
                  <a:pt x="148" y="2859"/>
                </a:lnTo>
                <a:cubicBezTo>
                  <a:pt x="66" y="2859"/>
                  <a:pt x="0" y="2802"/>
                  <a:pt x="0" y="2734"/>
                </a:cubicBezTo>
                <a:lnTo>
                  <a:pt x="0" y="124"/>
                </a:lnTo>
                <a:cubicBezTo>
                  <a:pt x="0" y="56"/>
                  <a:pt x="66" y="0"/>
                  <a:pt x="148" y="0"/>
                </a:cubicBezTo>
                <a:lnTo>
                  <a:pt x="508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1017720" y="1643040"/>
            <a:ext cx="1883880" cy="1029240"/>
          </a:xfrm>
          <a:custGeom>
            <a:avLst/>
            <a:gdLst/>
            <a:ahLst/>
            <a:rect l="0" t="0" r="r" b="b"/>
            <a:pathLst>
              <a:path w="5233" h="2859">
                <a:moveTo>
                  <a:pt x="149" y="41"/>
                </a:moveTo>
                <a:lnTo>
                  <a:pt x="5084" y="41"/>
                </a:lnTo>
                <a:cubicBezTo>
                  <a:pt x="5140" y="41"/>
                  <a:pt x="5184" y="79"/>
                  <a:pt x="5184" y="124"/>
                </a:cubicBezTo>
                <a:lnTo>
                  <a:pt x="5184" y="2734"/>
                </a:lnTo>
                <a:cubicBezTo>
                  <a:pt x="5184" y="2779"/>
                  <a:pt x="5140" y="2817"/>
                  <a:pt x="5084" y="2817"/>
                </a:cubicBezTo>
                <a:lnTo>
                  <a:pt x="149" y="2817"/>
                </a:lnTo>
                <a:cubicBezTo>
                  <a:pt x="94" y="2817"/>
                  <a:pt x="49" y="2779"/>
                  <a:pt x="49" y="2734"/>
                </a:cubicBezTo>
                <a:lnTo>
                  <a:pt x="49" y="124"/>
                </a:lnTo>
                <a:cubicBezTo>
                  <a:pt x="49" y="79"/>
                  <a:pt x="94" y="41"/>
                  <a:pt x="149" y="41"/>
                </a:cubicBezTo>
                <a:moveTo>
                  <a:pt x="149" y="0"/>
                </a:moveTo>
                <a:lnTo>
                  <a:pt x="5084" y="0"/>
                </a:lnTo>
                <a:cubicBezTo>
                  <a:pt x="5167" y="0"/>
                  <a:pt x="5233" y="56"/>
                  <a:pt x="5233" y="124"/>
                </a:cubicBezTo>
                <a:lnTo>
                  <a:pt x="5233" y="2734"/>
                </a:lnTo>
                <a:cubicBezTo>
                  <a:pt x="5233" y="2802"/>
                  <a:pt x="5167" y="2859"/>
                  <a:pt x="5084" y="2859"/>
                </a:cubicBezTo>
                <a:lnTo>
                  <a:pt x="149" y="2859"/>
                </a:lnTo>
                <a:cubicBezTo>
                  <a:pt x="68" y="2859"/>
                  <a:pt x="0" y="2802"/>
                  <a:pt x="0" y="2734"/>
                </a:cubicBezTo>
                <a:lnTo>
                  <a:pt x="0" y="124"/>
                </a:lnTo>
                <a:cubicBezTo>
                  <a:pt x="0" y="56"/>
                  <a:pt x="68" y="0"/>
                  <a:pt x="149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3070800" y="1643040"/>
            <a:ext cx="1884960" cy="1029240"/>
          </a:xfrm>
          <a:custGeom>
            <a:avLst/>
            <a:gdLst/>
            <a:ahLst/>
            <a:rect l="0" t="0" r="r" b="b"/>
            <a:pathLst>
              <a:path w="5236" h="2859">
                <a:moveTo>
                  <a:pt x="150" y="41"/>
                </a:moveTo>
                <a:lnTo>
                  <a:pt x="5086" y="41"/>
                </a:lnTo>
                <a:cubicBezTo>
                  <a:pt x="5141" y="41"/>
                  <a:pt x="5185" y="79"/>
                  <a:pt x="5185" y="124"/>
                </a:cubicBezTo>
                <a:lnTo>
                  <a:pt x="5185" y="2734"/>
                </a:lnTo>
                <a:cubicBezTo>
                  <a:pt x="5185" y="2779"/>
                  <a:pt x="5141" y="2817"/>
                  <a:pt x="5086" y="2817"/>
                </a:cubicBezTo>
                <a:lnTo>
                  <a:pt x="150" y="2817"/>
                </a:lnTo>
                <a:cubicBezTo>
                  <a:pt x="95" y="2817"/>
                  <a:pt x="50" y="2779"/>
                  <a:pt x="50" y="2734"/>
                </a:cubicBezTo>
                <a:lnTo>
                  <a:pt x="50" y="124"/>
                </a:lnTo>
                <a:cubicBezTo>
                  <a:pt x="50" y="79"/>
                  <a:pt x="95" y="41"/>
                  <a:pt x="150" y="41"/>
                </a:cubicBezTo>
                <a:moveTo>
                  <a:pt x="150" y="0"/>
                </a:moveTo>
                <a:lnTo>
                  <a:pt x="5086" y="0"/>
                </a:lnTo>
                <a:cubicBezTo>
                  <a:pt x="5168" y="0"/>
                  <a:pt x="5236" y="56"/>
                  <a:pt x="5236" y="124"/>
                </a:cubicBezTo>
                <a:lnTo>
                  <a:pt x="5236" y="2734"/>
                </a:lnTo>
                <a:cubicBezTo>
                  <a:pt x="5236" y="2802"/>
                  <a:pt x="5168" y="2859"/>
                  <a:pt x="5086" y="2859"/>
                </a:cubicBezTo>
                <a:lnTo>
                  <a:pt x="150" y="2859"/>
                </a:lnTo>
                <a:cubicBezTo>
                  <a:pt x="68" y="2859"/>
                  <a:pt x="0" y="2802"/>
                  <a:pt x="0" y="2734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5123880" y="1643040"/>
            <a:ext cx="1884960" cy="1029240"/>
          </a:xfrm>
          <a:custGeom>
            <a:avLst/>
            <a:gdLst/>
            <a:ahLst/>
            <a:rect l="0" t="0" r="r" b="b"/>
            <a:pathLst>
              <a:path w="5236" h="2859">
                <a:moveTo>
                  <a:pt x="150" y="41"/>
                </a:moveTo>
                <a:lnTo>
                  <a:pt x="5086" y="41"/>
                </a:lnTo>
                <a:cubicBezTo>
                  <a:pt x="5141" y="41"/>
                  <a:pt x="5185" y="79"/>
                  <a:pt x="5185" y="124"/>
                </a:cubicBezTo>
                <a:lnTo>
                  <a:pt x="5185" y="2734"/>
                </a:lnTo>
                <a:cubicBezTo>
                  <a:pt x="5185" y="2779"/>
                  <a:pt x="5141" y="2817"/>
                  <a:pt x="5086" y="2817"/>
                </a:cubicBezTo>
                <a:lnTo>
                  <a:pt x="150" y="2817"/>
                </a:lnTo>
                <a:cubicBezTo>
                  <a:pt x="95" y="2817"/>
                  <a:pt x="51" y="2779"/>
                  <a:pt x="51" y="2734"/>
                </a:cubicBezTo>
                <a:lnTo>
                  <a:pt x="51" y="124"/>
                </a:lnTo>
                <a:cubicBezTo>
                  <a:pt x="51" y="79"/>
                  <a:pt x="95" y="41"/>
                  <a:pt x="150" y="41"/>
                </a:cubicBezTo>
                <a:moveTo>
                  <a:pt x="150" y="0"/>
                </a:moveTo>
                <a:lnTo>
                  <a:pt x="5086" y="0"/>
                </a:lnTo>
                <a:cubicBezTo>
                  <a:pt x="5168" y="0"/>
                  <a:pt x="5236" y="56"/>
                  <a:pt x="5236" y="124"/>
                </a:cubicBezTo>
                <a:lnTo>
                  <a:pt x="5236" y="2734"/>
                </a:lnTo>
                <a:cubicBezTo>
                  <a:pt x="5236" y="2802"/>
                  <a:pt x="5168" y="2859"/>
                  <a:pt x="5086" y="2859"/>
                </a:cubicBezTo>
                <a:lnTo>
                  <a:pt x="150" y="2859"/>
                </a:lnTo>
                <a:cubicBezTo>
                  <a:pt x="68" y="2859"/>
                  <a:pt x="0" y="2802"/>
                  <a:pt x="0" y="2734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7178040" y="1643040"/>
            <a:ext cx="1883520" cy="1029240"/>
          </a:xfrm>
          <a:custGeom>
            <a:avLst/>
            <a:gdLst/>
            <a:ahLst/>
            <a:rect l="0" t="0" r="r" b="b"/>
            <a:pathLst>
              <a:path w="5232" h="2859">
                <a:moveTo>
                  <a:pt x="148" y="41"/>
                </a:moveTo>
                <a:lnTo>
                  <a:pt x="5084" y="41"/>
                </a:lnTo>
                <a:cubicBezTo>
                  <a:pt x="5139" y="41"/>
                  <a:pt x="5183" y="79"/>
                  <a:pt x="5183" y="124"/>
                </a:cubicBezTo>
                <a:lnTo>
                  <a:pt x="5183" y="2734"/>
                </a:lnTo>
                <a:cubicBezTo>
                  <a:pt x="5183" y="2779"/>
                  <a:pt x="5139" y="2817"/>
                  <a:pt x="5084" y="2817"/>
                </a:cubicBezTo>
                <a:lnTo>
                  <a:pt x="148" y="2817"/>
                </a:lnTo>
                <a:cubicBezTo>
                  <a:pt x="93" y="2817"/>
                  <a:pt x="49" y="2779"/>
                  <a:pt x="49" y="2734"/>
                </a:cubicBezTo>
                <a:lnTo>
                  <a:pt x="49" y="124"/>
                </a:lnTo>
                <a:cubicBezTo>
                  <a:pt x="49" y="79"/>
                  <a:pt x="93" y="41"/>
                  <a:pt x="148" y="41"/>
                </a:cubicBezTo>
                <a:moveTo>
                  <a:pt x="148" y="0"/>
                </a:moveTo>
                <a:lnTo>
                  <a:pt x="5084" y="0"/>
                </a:lnTo>
                <a:cubicBezTo>
                  <a:pt x="5166" y="0"/>
                  <a:pt x="5232" y="56"/>
                  <a:pt x="5232" y="124"/>
                </a:cubicBezTo>
                <a:lnTo>
                  <a:pt x="5232" y="2734"/>
                </a:lnTo>
                <a:cubicBezTo>
                  <a:pt x="5232" y="2802"/>
                  <a:pt x="5166" y="2859"/>
                  <a:pt x="5084" y="2859"/>
                </a:cubicBezTo>
                <a:lnTo>
                  <a:pt x="148" y="2859"/>
                </a:lnTo>
                <a:cubicBezTo>
                  <a:pt x="66" y="2859"/>
                  <a:pt x="0" y="2802"/>
                  <a:pt x="0" y="2734"/>
                </a:cubicBezTo>
                <a:lnTo>
                  <a:pt x="0" y="124"/>
                </a:lnTo>
                <a:cubicBezTo>
                  <a:pt x="0" y="56"/>
                  <a:pt x="66" y="0"/>
                  <a:pt x="148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847800" y="2841840"/>
            <a:ext cx="3853080" cy="1736280"/>
          </a:xfrm>
          <a:custGeom>
            <a:avLst/>
            <a:gdLst/>
            <a:ahLst/>
            <a:rect l="0" t="0" r="r" b="b"/>
            <a:pathLst>
              <a:path w="10703" h="4823">
                <a:moveTo>
                  <a:pt x="10553" y="0"/>
                </a:moveTo>
                <a:cubicBezTo>
                  <a:pt x="10635" y="0"/>
                  <a:pt x="10703" y="56"/>
                  <a:pt x="10703" y="125"/>
                </a:cubicBezTo>
                <a:lnTo>
                  <a:pt x="10703" y="4698"/>
                </a:lnTo>
                <a:cubicBezTo>
                  <a:pt x="10703" y="4767"/>
                  <a:pt x="10635" y="4823"/>
                  <a:pt x="10553" y="4823"/>
                </a:cubicBezTo>
                <a:lnTo>
                  <a:pt x="150" y="4823"/>
                </a:lnTo>
                <a:cubicBezTo>
                  <a:pt x="68" y="4823"/>
                  <a:pt x="0" y="4767"/>
                  <a:pt x="0" y="4698"/>
                </a:cubicBezTo>
                <a:lnTo>
                  <a:pt x="0" y="125"/>
                </a:lnTo>
                <a:cubicBezTo>
                  <a:pt x="0" y="56"/>
                  <a:pt x="68" y="0"/>
                  <a:pt x="150" y="0"/>
                </a:cubicBezTo>
                <a:lnTo>
                  <a:pt x="10553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847800" y="2841840"/>
            <a:ext cx="3853080" cy="1736280"/>
          </a:xfrm>
          <a:custGeom>
            <a:avLst/>
            <a:gdLst/>
            <a:ahLst/>
            <a:rect l="0" t="0" r="r" b="b"/>
            <a:pathLst>
              <a:path w="10703" h="4823">
                <a:moveTo>
                  <a:pt x="150" y="42"/>
                </a:moveTo>
                <a:lnTo>
                  <a:pt x="10553" y="42"/>
                </a:lnTo>
                <a:cubicBezTo>
                  <a:pt x="10608" y="42"/>
                  <a:pt x="10652" y="79"/>
                  <a:pt x="10652" y="125"/>
                </a:cubicBezTo>
                <a:lnTo>
                  <a:pt x="10652" y="4698"/>
                </a:lnTo>
                <a:cubicBezTo>
                  <a:pt x="10652" y="4743"/>
                  <a:pt x="10608" y="4781"/>
                  <a:pt x="10553" y="4781"/>
                </a:cubicBezTo>
                <a:lnTo>
                  <a:pt x="150" y="4781"/>
                </a:lnTo>
                <a:cubicBezTo>
                  <a:pt x="95" y="4781"/>
                  <a:pt x="49" y="4743"/>
                  <a:pt x="49" y="4698"/>
                </a:cubicBezTo>
                <a:lnTo>
                  <a:pt x="49" y="125"/>
                </a:lnTo>
                <a:cubicBezTo>
                  <a:pt x="49" y="79"/>
                  <a:pt x="95" y="42"/>
                  <a:pt x="150" y="42"/>
                </a:cubicBezTo>
                <a:moveTo>
                  <a:pt x="150" y="0"/>
                </a:moveTo>
                <a:lnTo>
                  <a:pt x="10553" y="0"/>
                </a:lnTo>
                <a:cubicBezTo>
                  <a:pt x="10635" y="0"/>
                  <a:pt x="10703" y="56"/>
                  <a:pt x="10703" y="125"/>
                </a:cubicBezTo>
                <a:lnTo>
                  <a:pt x="10703" y="4698"/>
                </a:lnTo>
                <a:cubicBezTo>
                  <a:pt x="10703" y="4767"/>
                  <a:pt x="10635" y="4823"/>
                  <a:pt x="10553" y="4823"/>
                </a:cubicBezTo>
                <a:lnTo>
                  <a:pt x="150" y="4823"/>
                </a:lnTo>
                <a:cubicBezTo>
                  <a:pt x="68" y="4823"/>
                  <a:pt x="0" y="4767"/>
                  <a:pt x="0" y="4698"/>
                </a:cubicBezTo>
                <a:lnTo>
                  <a:pt x="0" y="125"/>
                </a:lnTo>
                <a:cubicBezTo>
                  <a:pt x="0" y="56"/>
                  <a:pt x="68" y="0"/>
                  <a:pt x="150" y="0"/>
                </a:cubicBez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1069200" y="3320280"/>
            <a:ext cx="3410280" cy="451440"/>
          </a:xfrm>
          <a:custGeom>
            <a:avLst/>
            <a:gdLst/>
            <a:ahLst/>
            <a:rect l="0" t="0" r="r" b="b"/>
            <a:pathLst>
              <a:path w="9473" h="1254">
                <a:moveTo>
                  <a:pt x="9373" y="0"/>
                </a:moveTo>
                <a:cubicBezTo>
                  <a:pt x="9428" y="0"/>
                  <a:pt x="9473" y="37"/>
                  <a:pt x="9473" y="83"/>
                </a:cubicBezTo>
                <a:lnTo>
                  <a:pt x="9473" y="1171"/>
                </a:lnTo>
                <a:cubicBezTo>
                  <a:pt x="9473" y="1217"/>
                  <a:pt x="9428" y="1254"/>
                  <a:pt x="9373" y="1254"/>
                </a:cubicBezTo>
                <a:lnTo>
                  <a:pt x="101" y="1254"/>
                </a:lnTo>
                <a:cubicBezTo>
                  <a:pt x="46" y="1254"/>
                  <a:pt x="0" y="1217"/>
                  <a:pt x="0" y="1171"/>
                </a:cubicBezTo>
                <a:lnTo>
                  <a:pt x="0" y="83"/>
                </a:lnTo>
                <a:cubicBezTo>
                  <a:pt x="0" y="37"/>
                  <a:pt x="46" y="0"/>
                  <a:pt x="101" y="0"/>
                </a:cubicBezTo>
                <a:lnTo>
                  <a:pt x="937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069200" y="3320280"/>
            <a:ext cx="3410280" cy="451440"/>
          </a:xfrm>
          <a:custGeom>
            <a:avLst/>
            <a:gdLst/>
            <a:ahLst/>
            <a:rect l="0" t="0" r="r" b="b"/>
            <a:pathLst>
              <a:path w="9473" h="1254">
                <a:moveTo>
                  <a:pt x="101" y="31"/>
                </a:moveTo>
                <a:lnTo>
                  <a:pt x="9373" y="31"/>
                </a:lnTo>
                <a:cubicBezTo>
                  <a:pt x="9406" y="31"/>
                  <a:pt x="9435" y="54"/>
                  <a:pt x="9435" y="83"/>
                </a:cubicBezTo>
                <a:lnTo>
                  <a:pt x="9435" y="1171"/>
                </a:lnTo>
                <a:cubicBezTo>
                  <a:pt x="9435" y="1199"/>
                  <a:pt x="9406" y="1223"/>
                  <a:pt x="9373" y="1223"/>
                </a:cubicBezTo>
                <a:lnTo>
                  <a:pt x="101" y="1223"/>
                </a:lnTo>
                <a:cubicBezTo>
                  <a:pt x="66" y="1223"/>
                  <a:pt x="39" y="1199"/>
                  <a:pt x="39" y="1171"/>
                </a:cubicBezTo>
                <a:lnTo>
                  <a:pt x="39" y="83"/>
                </a:lnTo>
                <a:cubicBezTo>
                  <a:pt x="39" y="54"/>
                  <a:pt x="66" y="31"/>
                  <a:pt x="101" y="31"/>
                </a:cubicBezTo>
                <a:moveTo>
                  <a:pt x="101" y="0"/>
                </a:moveTo>
                <a:lnTo>
                  <a:pt x="9373" y="0"/>
                </a:lnTo>
                <a:cubicBezTo>
                  <a:pt x="9428" y="0"/>
                  <a:pt x="9473" y="37"/>
                  <a:pt x="9473" y="83"/>
                </a:cubicBezTo>
                <a:lnTo>
                  <a:pt x="9473" y="1171"/>
                </a:lnTo>
                <a:cubicBezTo>
                  <a:pt x="9473" y="1217"/>
                  <a:pt x="9428" y="1254"/>
                  <a:pt x="9373" y="1254"/>
                </a:cubicBezTo>
                <a:lnTo>
                  <a:pt x="101" y="1254"/>
                </a:lnTo>
                <a:cubicBezTo>
                  <a:pt x="46" y="1254"/>
                  <a:pt x="0" y="1217"/>
                  <a:pt x="0" y="1171"/>
                </a:cubicBezTo>
                <a:lnTo>
                  <a:pt x="0" y="83"/>
                </a:lnTo>
                <a:cubicBezTo>
                  <a:pt x="0" y="37"/>
                  <a:pt x="46" y="0"/>
                  <a:pt x="101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1069200" y="3856320"/>
            <a:ext cx="3410280" cy="451800"/>
          </a:xfrm>
          <a:custGeom>
            <a:avLst/>
            <a:gdLst/>
            <a:ahLst/>
            <a:rect l="0" t="0" r="r" b="b"/>
            <a:pathLst>
              <a:path w="9473" h="1255">
                <a:moveTo>
                  <a:pt x="9373" y="0"/>
                </a:moveTo>
                <a:cubicBezTo>
                  <a:pt x="9428" y="0"/>
                  <a:pt x="9473" y="38"/>
                  <a:pt x="9473" y="83"/>
                </a:cubicBezTo>
                <a:lnTo>
                  <a:pt x="9473" y="1169"/>
                </a:lnTo>
                <a:cubicBezTo>
                  <a:pt x="9473" y="1217"/>
                  <a:pt x="9428" y="1255"/>
                  <a:pt x="9373" y="1255"/>
                </a:cubicBezTo>
                <a:lnTo>
                  <a:pt x="101" y="1255"/>
                </a:lnTo>
                <a:cubicBezTo>
                  <a:pt x="46" y="1255"/>
                  <a:pt x="0" y="1217"/>
                  <a:pt x="0" y="1169"/>
                </a:cubicBezTo>
                <a:lnTo>
                  <a:pt x="0" y="83"/>
                </a:lnTo>
                <a:cubicBezTo>
                  <a:pt x="0" y="38"/>
                  <a:pt x="46" y="0"/>
                  <a:pt x="101" y="0"/>
                </a:cubicBezTo>
                <a:lnTo>
                  <a:pt x="937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1069200" y="3856320"/>
            <a:ext cx="3410280" cy="451800"/>
          </a:xfrm>
          <a:custGeom>
            <a:avLst/>
            <a:gdLst/>
            <a:ahLst/>
            <a:rect l="0" t="0" r="r" b="b"/>
            <a:pathLst>
              <a:path w="9473" h="1255">
                <a:moveTo>
                  <a:pt x="101" y="32"/>
                </a:moveTo>
                <a:lnTo>
                  <a:pt x="9373" y="32"/>
                </a:lnTo>
                <a:cubicBezTo>
                  <a:pt x="9406" y="32"/>
                  <a:pt x="9435" y="55"/>
                  <a:pt x="9435" y="83"/>
                </a:cubicBezTo>
                <a:lnTo>
                  <a:pt x="9435" y="1169"/>
                </a:lnTo>
                <a:cubicBezTo>
                  <a:pt x="9435" y="1200"/>
                  <a:pt x="9406" y="1223"/>
                  <a:pt x="9373" y="1223"/>
                </a:cubicBezTo>
                <a:lnTo>
                  <a:pt x="101" y="1223"/>
                </a:lnTo>
                <a:cubicBezTo>
                  <a:pt x="66" y="1223"/>
                  <a:pt x="39" y="1200"/>
                  <a:pt x="39" y="1169"/>
                </a:cubicBezTo>
                <a:lnTo>
                  <a:pt x="39" y="83"/>
                </a:lnTo>
                <a:cubicBezTo>
                  <a:pt x="39" y="55"/>
                  <a:pt x="66" y="32"/>
                  <a:pt x="101" y="32"/>
                </a:cubicBezTo>
                <a:moveTo>
                  <a:pt x="101" y="0"/>
                </a:moveTo>
                <a:lnTo>
                  <a:pt x="9373" y="0"/>
                </a:lnTo>
                <a:cubicBezTo>
                  <a:pt x="9428" y="0"/>
                  <a:pt x="9473" y="38"/>
                  <a:pt x="9473" y="83"/>
                </a:cubicBezTo>
                <a:lnTo>
                  <a:pt x="9473" y="1169"/>
                </a:lnTo>
                <a:cubicBezTo>
                  <a:pt x="9473" y="1217"/>
                  <a:pt x="9428" y="1255"/>
                  <a:pt x="9373" y="1255"/>
                </a:cubicBezTo>
                <a:lnTo>
                  <a:pt x="101" y="1255"/>
                </a:lnTo>
                <a:cubicBezTo>
                  <a:pt x="46" y="1255"/>
                  <a:pt x="0" y="1217"/>
                  <a:pt x="0" y="1169"/>
                </a:cubicBezTo>
                <a:lnTo>
                  <a:pt x="0" y="83"/>
                </a:lnTo>
                <a:cubicBezTo>
                  <a:pt x="0" y="38"/>
                  <a:pt x="46" y="0"/>
                  <a:pt x="101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055160" y="641880"/>
            <a:ext cx="7435080" cy="451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6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DASHBOARD 1 – EXECUTIVE OVERVIEW PANEL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055160" y="1067040"/>
            <a:ext cx="6027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50" b="1" i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Global operational workforce metrics and critical high-level leadership monitors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592640" y="1912680"/>
            <a:ext cx="7797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1,420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217160" y="2289960"/>
            <a:ext cx="1489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TOTAL ACTIVE HEADCOUNT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3608640" y="1845000"/>
            <a:ext cx="85860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00" b="0" u="none" strike="noStrike">
                <a:solidFill>
                  <a:srgbClr val="B45309"/>
                </a:solidFill>
                <a:effectLst/>
                <a:uFillTx/>
                <a:latin typeface="Noto Sans"/>
                <a:ea typeface="Noto Sans"/>
              </a:rPr>
              <a:t>14.2%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3343680" y="2222640"/>
            <a:ext cx="13330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ANNUALIZED ATTRITION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3880080" y="2357640"/>
            <a:ext cx="2718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RATE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5610240" y="1845000"/>
            <a:ext cx="96840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00" b="0" u="none" strike="noStrike">
                <a:solidFill>
                  <a:srgbClr val="0F766E"/>
                </a:solidFill>
                <a:effectLst/>
                <a:uFillTx/>
                <a:latin typeface="Noto Sans"/>
                <a:ea typeface="Noto Sans"/>
              </a:rPr>
              <a:t>$78.4K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5666040" y="2222640"/>
            <a:ext cx="800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AVERAGE BASE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5620680" y="2357640"/>
            <a:ext cx="8996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COMPENSATION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7662960" y="1845000"/>
            <a:ext cx="9698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400" b="0" u="none" strike="noStrike">
                <a:solidFill>
                  <a:srgbClr val="4338CA"/>
                </a:solidFill>
                <a:effectLst/>
                <a:uFillTx/>
                <a:latin typeface="Noto Sans"/>
                <a:ea typeface="Noto Sans"/>
              </a:rPr>
              <a:t>58 / 42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7412400" y="2222640"/>
            <a:ext cx="14014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GENDER DISTRIBUTION %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7978320" y="2357640"/>
            <a:ext cx="2746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(M/F)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1069920" y="3035520"/>
            <a:ext cx="2792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POWER BI REPORTING COMPONENTS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219320" y="3395160"/>
            <a:ext cx="2904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High-Impact Summary Tiles:</a:t>
            </a:r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 Real-time high-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1219320" y="3552840"/>
            <a:ext cx="160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level metric card blocks.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1219320" y="3931200"/>
            <a:ext cx="25387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Target Gauge Visuals:</a:t>
            </a:r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 Live operational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219320" y="4088880"/>
            <a:ext cx="2006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performance tracker tracking.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5379120" y="2851560"/>
            <a:ext cx="24307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4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Primary Business Application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5379120" y="3230640"/>
            <a:ext cx="3835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Gives C-suite executives and HR leadership teams an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5379120" y="3403080"/>
            <a:ext cx="3951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immediate snapshot of organizational headcount, pay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847800" y="5418360"/>
            <a:ext cx="8383680" cy="15480"/>
          </a:xfrm>
          <a:custGeom>
            <a:avLst/>
            <a:gdLst/>
            <a:ahLst/>
            <a:rect l="0" t="0" r="r" b="b"/>
            <a:pathLst>
              <a:path w="23288" h="43">
                <a:moveTo>
                  <a:pt x="0" y="0"/>
                </a:moveTo>
                <a:lnTo>
                  <a:pt x="23288" y="0"/>
                </a:lnTo>
                <a:lnTo>
                  <a:pt x="23288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5379120" y="3575520"/>
            <a:ext cx="4079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equity, and baseline retention wellness to support long-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5379120" y="3748320"/>
            <a:ext cx="1134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term oversight.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848160" y="5484240"/>
            <a:ext cx="19954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HR ANALYTICS DASHBOARD PROJECT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8850960" y="5484240"/>
            <a:ext cx="404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SLIDE 7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847800" y="623160"/>
            <a:ext cx="72720" cy="623520"/>
          </a:xfrm>
          <a:custGeom>
            <a:avLst/>
            <a:gdLst/>
            <a:ahLst/>
            <a:rect l="0" t="0" r="r" b="b"/>
            <a:pathLst>
              <a:path w="202" h="1732">
                <a:moveTo>
                  <a:pt x="0" y="0"/>
                </a:moveTo>
                <a:lnTo>
                  <a:pt x="202" y="0"/>
                </a:lnTo>
                <a:lnTo>
                  <a:pt x="202" y="1732"/>
                </a:lnTo>
                <a:lnTo>
                  <a:pt x="0" y="1732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847800" y="1643040"/>
            <a:ext cx="4271760" cy="2808360"/>
          </a:xfrm>
          <a:custGeom>
            <a:avLst/>
            <a:gdLst/>
            <a:ahLst/>
            <a:rect l="0" t="0" r="r" b="b"/>
            <a:pathLst>
              <a:path w="11866" h="7801">
                <a:moveTo>
                  <a:pt x="11718" y="0"/>
                </a:moveTo>
                <a:cubicBezTo>
                  <a:pt x="11800" y="0"/>
                  <a:pt x="11866" y="56"/>
                  <a:pt x="11866" y="124"/>
                </a:cubicBezTo>
                <a:lnTo>
                  <a:pt x="11866" y="7675"/>
                </a:lnTo>
                <a:cubicBezTo>
                  <a:pt x="11866" y="7744"/>
                  <a:pt x="11800" y="7801"/>
                  <a:pt x="11718" y="7801"/>
                </a:cubicBezTo>
                <a:lnTo>
                  <a:pt x="150" y="7801"/>
                </a:lnTo>
                <a:cubicBezTo>
                  <a:pt x="68" y="7801"/>
                  <a:pt x="0" y="7744"/>
                  <a:pt x="0" y="7675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lnTo>
                  <a:pt x="11718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847800" y="1643040"/>
            <a:ext cx="4271760" cy="2808360"/>
          </a:xfrm>
          <a:custGeom>
            <a:avLst/>
            <a:gdLst/>
            <a:ahLst/>
            <a:rect l="0" t="0" r="r" b="b"/>
            <a:pathLst>
              <a:path w="11866" h="7801">
                <a:moveTo>
                  <a:pt x="150" y="41"/>
                </a:moveTo>
                <a:lnTo>
                  <a:pt x="11718" y="41"/>
                </a:lnTo>
                <a:cubicBezTo>
                  <a:pt x="11772" y="41"/>
                  <a:pt x="11817" y="79"/>
                  <a:pt x="11817" y="124"/>
                </a:cubicBezTo>
                <a:lnTo>
                  <a:pt x="11817" y="7675"/>
                </a:lnTo>
                <a:cubicBezTo>
                  <a:pt x="11817" y="7721"/>
                  <a:pt x="11772" y="7759"/>
                  <a:pt x="11718" y="7759"/>
                </a:cubicBezTo>
                <a:lnTo>
                  <a:pt x="150" y="7759"/>
                </a:lnTo>
                <a:cubicBezTo>
                  <a:pt x="95" y="7759"/>
                  <a:pt x="49" y="7721"/>
                  <a:pt x="49" y="7675"/>
                </a:cubicBezTo>
                <a:lnTo>
                  <a:pt x="49" y="124"/>
                </a:lnTo>
                <a:cubicBezTo>
                  <a:pt x="49" y="79"/>
                  <a:pt x="95" y="41"/>
                  <a:pt x="150" y="41"/>
                </a:cubicBezTo>
                <a:moveTo>
                  <a:pt x="150" y="0"/>
                </a:moveTo>
                <a:lnTo>
                  <a:pt x="11718" y="0"/>
                </a:lnTo>
                <a:cubicBezTo>
                  <a:pt x="11800" y="0"/>
                  <a:pt x="11866" y="56"/>
                  <a:pt x="11866" y="124"/>
                </a:cubicBezTo>
                <a:lnTo>
                  <a:pt x="11866" y="7675"/>
                </a:lnTo>
                <a:cubicBezTo>
                  <a:pt x="11866" y="7744"/>
                  <a:pt x="11800" y="7801"/>
                  <a:pt x="11718" y="7801"/>
                </a:cubicBezTo>
                <a:lnTo>
                  <a:pt x="150" y="7801"/>
                </a:lnTo>
                <a:cubicBezTo>
                  <a:pt x="68" y="7801"/>
                  <a:pt x="0" y="7744"/>
                  <a:pt x="0" y="7675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069200" y="2121480"/>
            <a:ext cx="3828960" cy="451800"/>
          </a:xfrm>
          <a:custGeom>
            <a:avLst/>
            <a:gdLst/>
            <a:ahLst/>
            <a:rect l="0" t="0" r="r" b="b"/>
            <a:pathLst>
              <a:path w="10636" h="1255">
                <a:moveTo>
                  <a:pt x="10537" y="0"/>
                </a:moveTo>
                <a:cubicBezTo>
                  <a:pt x="10592" y="0"/>
                  <a:pt x="10636" y="38"/>
                  <a:pt x="10636" y="83"/>
                </a:cubicBezTo>
                <a:lnTo>
                  <a:pt x="10636" y="1171"/>
                </a:lnTo>
                <a:cubicBezTo>
                  <a:pt x="10636" y="1217"/>
                  <a:pt x="10592" y="1255"/>
                  <a:pt x="10537" y="1255"/>
                </a:cubicBezTo>
                <a:lnTo>
                  <a:pt x="101" y="1255"/>
                </a:lnTo>
                <a:cubicBezTo>
                  <a:pt x="46" y="1255"/>
                  <a:pt x="0" y="1217"/>
                  <a:pt x="0" y="1171"/>
                </a:cubicBezTo>
                <a:lnTo>
                  <a:pt x="0" y="83"/>
                </a:lnTo>
                <a:cubicBezTo>
                  <a:pt x="0" y="38"/>
                  <a:pt x="46" y="0"/>
                  <a:pt x="101" y="0"/>
                </a:cubicBezTo>
                <a:lnTo>
                  <a:pt x="1053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1069200" y="2121480"/>
            <a:ext cx="3828960" cy="451800"/>
          </a:xfrm>
          <a:custGeom>
            <a:avLst/>
            <a:gdLst/>
            <a:ahLst/>
            <a:rect l="0" t="0" r="r" b="b"/>
            <a:pathLst>
              <a:path w="10636" h="1255">
                <a:moveTo>
                  <a:pt x="101" y="32"/>
                </a:moveTo>
                <a:lnTo>
                  <a:pt x="10537" y="32"/>
                </a:lnTo>
                <a:cubicBezTo>
                  <a:pt x="10570" y="32"/>
                  <a:pt x="10599" y="55"/>
                  <a:pt x="10599" y="83"/>
                </a:cubicBezTo>
                <a:lnTo>
                  <a:pt x="10599" y="1171"/>
                </a:lnTo>
                <a:cubicBezTo>
                  <a:pt x="10599" y="1200"/>
                  <a:pt x="10570" y="1223"/>
                  <a:pt x="10537" y="1223"/>
                </a:cubicBezTo>
                <a:lnTo>
                  <a:pt x="101" y="1223"/>
                </a:lnTo>
                <a:cubicBezTo>
                  <a:pt x="66" y="1223"/>
                  <a:pt x="39" y="1200"/>
                  <a:pt x="39" y="1171"/>
                </a:cubicBezTo>
                <a:lnTo>
                  <a:pt x="39" y="83"/>
                </a:lnTo>
                <a:cubicBezTo>
                  <a:pt x="39" y="55"/>
                  <a:pt x="66" y="32"/>
                  <a:pt x="101" y="32"/>
                </a:cubicBezTo>
                <a:moveTo>
                  <a:pt x="101" y="0"/>
                </a:moveTo>
                <a:lnTo>
                  <a:pt x="10537" y="0"/>
                </a:lnTo>
                <a:cubicBezTo>
                  <a:pt x="10592" y="0"/>
                  <a:pt x="10636" y="38"/>
                  <a:pt x="10636" y="83"/>
                </a:cubicBezTo>
                <a:lnTo>
                  <a:pt x="10636" y="1171"/>
                </a:lnTo>
                <a:cubicBezTo>
                  <a:pt x="10636" y="1217"/>
                  <a:pt x="10592" y="1255"/>
                  <a:pt x="10537" y="1255"/>
                </a:cubicBezTo>
                <a:lnTo>
                  <a:pt x="101" y="1255"/>
                </a:lnTo>
                <a:cubicBezTo>
                  <a:pt x="46" y="1255"/>
                  <a:pt x="0" y="1217"/>
                  <a:pt x="0" y="1171"/>
                </a:cubicBezTo>
                <a:lnTo>
                  <a:pt x="0" y="83"/>
                </a:lnTo>
                <a:cubicBezTo>
                  <a:pt x="0" y="38"/>
                  <a:pt x="46" y="0"/>
                  <a:pt x="101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1069200" y="2657520"/>
            <a:ext cx="3828960" cy="451800"/>
          </a:xfrm>
          <a:custGeom>
            <a:avLst/>
            <a:gdLst/>
            <a:ahLst/>
            <a:rect l="0" t="0" r="r" b="b"/>
            <a:pathLst>
              <a:path w="10636" h="1255">
                <a:moveTo>
                  <a:pt x="10537" y="0"/>
                </a:moveTo>
                <a:cubicBezTo>
                  <a:pt x="10592" y="0"/>
                  <a:pt x="10636" y="38"/>
                  <a:pt x="10636" y="83"/>
                </a:cubicBezTo>
                <a:lnTo>
                  <a:pt x="10636" y="1171"/>
                </a:lnTo>
                <a:cubicBezTo>
                  <a:pt x="10636" y="1217"/>
                  <a:pt x="10592" y="1255"/>
                  <a:pt x="10537" y="1255"/>
                </a:cubicBezTo>
                <a:lnTo>
                  <a:pt x="101" y="1255"/>
                </a:lnTo>
                <a:cubicBezTo>
                  <a:pt x="46" y="1255"/>
                  <a:pt x="0" y="1217"/>
                  <a:pt x="0" y="1171"/>
                </a:cubicBezTo>
                <a:lnTo>
                  <a:pt x="0" y="83"/>
                </a:lnTo>
                <a:cubicBezTo>
                  <a:pt x="0" y="38"/>
                  <a:pt x="46" y="0"/>
                  <a:pt x="101" y="0"/>
                </a:cubicBezTo>
                <a:lnTo>
                  <a:pt x="1053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069200" y="2657520"/>
            <a:ext cx="3828960" cy="451800"/>
          </a:xfrm>
          <a:custGeom>
            <a:avLst/>
            <a:gdLst/>
            <a:ahLst/>
            <a:rect l="0" t="0" r="r" b="b"/>
            <a:pathLst>
              <a:path w="10636" h="1255">
                <a:moveTo>
                  <a:pt x="101" y="32"/>
                </a:moveTo>
                <a:lnTo>
                  <a:pt x="10537" y="32"/>
                </a:lnTo>
                <a:cubicBezTo>
                  <a:pt x="10570" y="32"/>
                  <a:pt x="10599" y="55"/>
                  <a:pt x="10599" y="83"/>
                </a:cubicBezTo>
                <a:lnTo>
                  <a:pt x="10599" y="1171"/>
                </a:lnTo>
                <a:cubicBezTo>
                  <a:pt x="10599" y="1199"/>
                  <a:pt x="10570" y="1223"/>
                  <a:pt x="10537" y="1223"/>
                </a:cubicBezTo>
                <a:lnTo>
                  <a:pt x="101" y="1223"/>
                </a:lnTo>
                <a:cubicBezTo>
                  <a:pt x="66" y="1223"/>
                  <a:pt x="39" y="1199"/>
                  <a:pt x="39" y="1171"/>
                </a:cubicBezTo>
                <a:lnTo>
                  <a:pt x="39" y="83"/>
                </a:lnTo>
                <a:cubicBezTo>
                  <a:pt x="39" y="55"/>
                  <a:pt x="66" y="32"/>
                  <a:pt x="101" y="32"/>
                </a:cubicBezTo>
                <a:moveTo>
                  <a:pt x="101" y="0"/>
                </a:moveTo>
                <a:lnTo>
                  <a:pt x="10537" y="0"/>
                </a:lnTo>
                <a:cubicBezTo>
                  <a:pt x="10592" y="0"/>
                  <a:pt x="10636" y="38"/>
                  <a:pt x="10636" y="83"/>
                </a:cubicBezTo>
                <a:lnTo>
                  <a:pt x="10636" y="1171"/>
                </a:lnTo>
                <a:cubicBezTo>
                  <a:pt x="10636" y="1217"/>
                  <a:pt x="10592" y="1255"/>
                  <a:pt x="10537" y="1255"/>
                </a:cubicBezTo>
                <a:lnTo>
                  <a:pt x="101" y="1255"/>
                </a:lnTo>
                <a:cubicBezTo>
                  <a:pt x="46" y="1255"/>
                  <a:pt x="0" y="1217"/>
                  <a:pt x="0" y="1171"/>
                </a:cubicBezTo>
                <a:lnTo>
                  <a:pt x="0" y="83"/>
                </a:lnTo>
                <a:cubicBezTo>
                  <a:pt x="0" y="38"/>
                  <a:pt x="46" y="0"/>
                  <a:pt x="101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069200" y="3193560"/>
            <a:ext cx="3828960" cy="451440"/>
          </a:xfrm>
          <a:custGeom>
            <a:avLst/>
            <a:gdLst/>
            <a:ahLst/>
            <a:rect l="0" t="0" r="r" b="b"/>
            <a:pathLst>
              <a:path w="10636" h="1254">
                <a:moveTo>
                  <a:pt x="10537" y="0"/>
                </a:moveTo>
                <a:cubicBezTo>
                  <a:pt x="10592" y="0"/>
                  <a:pt x="10636" y="37"/>
                  <a:pt x="10636" y="83"/>
                </a:cubicBezTo>
                <a:lnTo>
                  <a:pt x="10636" y="1171"/>
                </a:lnTo>
                <a:cubicBezTo>
                  <a:pt x="10636" y="1217"/>
                  <a:pt x="10592" y="1254"/>
                  <a:pt x="10537" y="1254"/>
                </a:cubicBezTo>
                <a:lnTo>
                  <a:pt x="101" y="1254"/>
                </a:lnTo>
                <a:cubicBezTo>
                  <a:pt x="46" y="1254"/>
                  <a:pt x="0" y="1217"/>
                  <a:pt x="0" y="1171"/>
                </a:cubicBezTo>
                <a:lnTo>
                  <a:pt x="0" y="83"/>
                </a:lnTo>
                <a:cubicBezTo>
                  <a:pt x="0" y="37"/>
                  <a:pt x="46" y="0"/>
                  <a:pt x="101" y="0"/>
                </a:cubicBezTo>
                <a:lnTo>
                  <a:pt x="1053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1069200" y="3193560"/>
            <a:ext cx="3828960" cy="451440"/>
          </a:xfrm>
          <a:custGeom>
            <a:avLst/>
            <a:gdLst/>
            <a:ahLst/>
            <a:rect l="0" t="0" r="r" b="b"/>
            <a:pathLst>
              <a:path w="10636" h="1254">
                <a:moveTo>
                  <a:pt x="101" y="31"/>
                </a:moveTo>
                <a:lnTo>
                  <a:pt x="10537" y="31"/>
                </a:lnTo>
                <a:cubicBezTo>
                  <a:pt x="10570" y="31"/>
                  <a:pt x="10599" y="54"/>
                  <a:pt x="10599" y="83"/>
                </a:cubicBezTo>
                <a:lnTo>
                  <a:pt x="10599" y="1171"/>
                </a:lnTo>
                <a:cubicBezTo>
                  <a:pt x="10599" y="1199"/>
                  <a:pt x="10570" y="1223"/>
                  <a:pt x="10537" y="1223"/>
                </a:cubicBezTo>
                <a:lnTo>
                  <a:pt x="101" y="1223"/>
                </a:lnTo>
                <a:cubicBezTo>
                  <a:pt x="66" y="1223"/>
                  <a:pt x="39" y="1199"/>
                  <a:pt x="39" y="1171"/>
                </a:cubicBezTo>
                <a:lnTo>
                  <a:pt x="39" y="83"/>
                </a:lnTo>
                <a:cubicBezTo>
                  <a:pt x="39" y="54"/>
                  <a:pt x="66" y="31"/>
                  <a:pt x="101" y="31"/>
                </a:cubicBezTo>
                <a:moveTo>
                  <a:pt x="101" y="0"/>
                </a:moveTo>
                <a:lnTo>
                  <a:pt x="10537" y="0"/>
                </a:lnTo>
                <a:cubicBezTo>
                  <a:pt x="10592" y="0"/>
                  <a:pt x="10636" y="37"/>
                  <a:pt x="10636" y="83"/>
                </a:cubicBezTo>
                <a:lnTo>
                  <a:pt x="10636" y="1171"/>
                </a:lnTo>
                <a:cubicBezTo>
                  <a:pt x="10636" y="1217"/>
                  <a:pt x="10592" y="1254"/>
                  <a:pt x="10537" y="1254"/>
                </a:cubicBezTo>
                <a:lnTo>
                  <a:pt x="101" y="1254"/>
                </a:lnTo>
                <a:cubicBezTo>
                  <a:pt x="46" y="1254"/>
                  <a:pt x="0" y="1217"/>
                  <a:pt x="0" y="1171"/>
                </a:cubicBezTo>
                <a:lnTo>
                  <a:pt x="0" y="83"/>
                </a:lnTo>
                <a:cubicBezTo>
                  <a:pt x="0" y="37"/>
                  <a:pt x="46" y="0"/>
                  <a:pt x="101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1069200" y="3729600"/>
            <a:ext cx="3828960" cy="451800"/>
          </a:xfrm>
          <a:custGeom>
            <a:avLst/>
            <a:gdLst/>
            <a:ahLst/>
            <a:rect l="0" t="0" r="r" b="b"/>
            <a:pathLst>
              <a:path w="10636" h="1255">
                <a:moveTo>
                  <a:pt x="10537" y="0"/>
                </a:moveTo>
                <a:cubicBezTo>
                  <a:pt x="10592" y="0"/>
                  <a:pt x="10636" y="38"/>
                  <a:pt x="10636" y="83"/>
                </a:cubicBezTo>
                <a:lnTo>
                  <a:pt x="10636" y="1171"/>
                </a:lnTo>
                <a:cubicBezTo>
                  <a:pt x="10636" y="1217"/>
                  <a:pt x="10592" y="1255"/>
                  <a:pt x="10537" y="1255"/>
                </a:cubicBezTo>
                <a:lnTo>
                  <a:pt x="101" y="1255"/>
                </a:lnTo>
                <a:cubicBezTo>
                  <a:pt x="46" y="1255"/>
                  <a:pt x="0" y="1217"/>
                  <a:pt x="0" y="1171"/>
                </a:cubicBezTo>
                <a:lnTo>
                  <a:pt x="0" y="83"/>
                </a:lnTo>
                <a:cubicBezTo>
                  <a:pt x="0" y="38"/>
                  <a:pt x="46" y="0"/>
                  <a:pt x="101" y="0"/>
                </a:cubicBezTo>
                <a:lnTo>
                  <a:pt x="1053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1069200" y="3729600"/>
            <a:ext cx="3828960" cy="451800"/>
          </a:xfrm>
          <a:custGeom>
            <a:avLst/>
            <a:gdLst/>
            <a:ahLst/>
            <a:rect l="0" t="0" r="r" b="b"/>
            <a:pathLst>
              <a:path w="10636" h="1255">
                <a:moveTo>
                  <a:pt x="101" y="32"/>
                </a:moveTo>
                <a:lnTo>
                  <a:pt x="10537" y="32"/>
                </a:lnTo>
                <a:cubicBezTo>
                  <a:pt x="10570" y="32"/>
                  <a:pt x="10599" y="55"/>
                  <a:pt x="10599" y="83"/>
                </a:cubicBezTo>
                <a:lnTo>
                  <a:pt x="10599" y="1171"/>
                </a:lnTo>
                <a:cubicBezTo>
                  <a:pt x="10599" y="1200"/>
                  <a:pt x="10570" y="1223"/>
                  <a:pt x="10537" y="1223"/>
                </a:cubicBezTo>
                <a:lnTo>
                  <a:pt x="101" y="1223"/>
                </a:lnTo>
                <a:cubicBezTo>
                  <a:pt x="66" y="1223"/>
                  <a:pt x="39" y="1200"/>
                  <a:pt x="39" y="1171"/>
                </a:cubicBezTo>
                <a:lnTo>
                  <a:pt x="39" y="83"/>
                </a:lnTo>
                <a:cubicBezTo>
                  <a:pt x="39" y="55"/>
                  <a:pt x="66" y="32"/>
                  <a:pt x="101" y="32"/>
                </a:cubicBezTo>
                <a:moveTo>
                  <a:pt x="101" y="0"/>
                </a:moveTo>
                <a:lnTo>
                  <a:pt x="10537" y="0"/>
                </a:lnTo>
                <a:cubicBezTo>
                  <a:pt x="10592" y="0"/>
                  <a:pt x="10636" y="38"/>
                  <a:pt x="10636" y="83"/>
                </a:cubicBezTo>
                <a:lnTo>
                  <a:pt x="10636" y="1171"/>
                </a:lnTo>
                <a:cubicBezTo>
                  <a:pt x="10636" y="1217"/>
                  <a:pt x="10592" y="1255"/>
                  <a:pt x="10537" y="1255"/>
                </a:cubicBezTo>
                <a:lnTo>
                  <a:pt x="101" y="1255"/>
                </a:lnTo>
                <a:cubicBezTo>
                  <a:pt x="46" y="1255"/>
                  <a:pt x="0" y="1217"/>
                  <a:pt x="0" y="1171"/>
                </a:cubicBezTo>
                <a:lnTo>
                  <a:pt x="0" y="83"/>
                </a:lnTo>
                <a:cubicBezTo>
                  <a:pt x="0" y="38"/>
                  <a:pt x="46" y="0"/>
                  <a:pt x="101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5798160" y="2999160"/>
            <a:ext cx="3433680" cy="947520"/>
          </a:xfrm>
          <a:custGeom>
            <a:avLst/>
            <a:gdLst/>
            <a:ahLst/>
            <a:rect l="0" t="0" r="r" b="b"/>
            <a:pathLst>
              <a:path w="9538" h="2632">
                <a:moveTo>
                  <a:pt x="9389" y="0"/>
                </a:moveTo>
                <a:cubicBezTo>
                  <a:pt x="9470" y="0"/>
                  <a:pt x="9538" y="56"/>
                  <a:pt x="9538" y="125"/>
                </a:cubicBezTo>
                <a:lnTo>
                  <a:pt x="9538" y="2507"/>
                </a:lnTo>
                <a:cubicBezTo>
                  <a:pt x="9538" y="2576"/>
                  <a:pt x="9470" y="2632"/>
                  <a:pt x="9389" y="2632"/>
                </a:cubicBezTo>
                <a:lnTo>
                  <a:pt x="150" y="2632"/>
                </a:lnTo>
                <a:cubicBezTo>
                  <a:pt x="68" y="2632"/>
                  <a:pt x="0" y="2576"/>
                  <a:pt x="0" y="2507"/>
                </a:cubicBezTo>
                <a:lnTo>
                  <a:pt x="0" y="125"/>
                </a:lnTo>
                <a:cubicBezTo>
                  <a:pt x="0" y="56"/>
                  <a:pt x="68" y="0"/>
                  <a:pt x="150" y="0"/>
                </a:cubicBezTo>
                <a:lnTo>
                  <a:pt x="9389" y="0"/>
                </a:lnTo>
                <a:close/>
              </a:path>
            </a:pathLst>
          </a:custGeom>
          <a:solidFill>
            <a:srgbClr val="FEF2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5798160" y="2999160"/>
            <a:ext cx="3433680" cy="947520"/>
          </a:xfrm>
          <a:custGeom>
            <a:avLst/>
            <a:gdLst/>
            <a:ahLst/>
            <a:rect l="0" t="0" r="r" b="b"/>
            <a:pathLst>
              <a:path w="9538" h="2632">
                <a:moveTo>
                  <a:pt x="150" y="42"/>
                </a:moveTo>
                <a:lnTo>
                  <a:pt x="9389" y="42"/>
                </a:lnTo>
                <a:cubicBezTo>
                  <a:pt x="9444" y="42"/>
                  <a:pt x="9489" y="79"/>
                  <a:pt x="9489" y="125"/>
                </a:cubicBezTo>
                <a:lnTo>
                  <a:pt x="9489" y="2507"/>
                </a:lnTo>
                <a:cubicBezTo>
                  <a:pt x="9489" y="2553"/>
                  <a:pt x="9444" y="2590"/>
                  <a:pt x="9389" y="2590"/>
                </a:cubicBezTo>
                <a:lnTo>
                  <a:pt x="150" y="2590"/>
                </a:lnTo>
                <a:cubicBezTo>
                  <a:pt x="95" y="2590"/>
                  <a:pt x="49" y="2553"/>
                  <a:pt x="49" y="2507"/>
                </a:cubicBezTo>
                <a:lnTo>
                  <a:pt x="49" y="125"/>
                </a:lnTo>
                <a:cubicBezTo>
                  <a:pt x="49" y="79"/>
                  <a:pt x="95" y="42"/>
                  <a:pt x="150" y="42"/>
                </a:cubicBezTo>
                <a:moveTo>
                  <a:pt x="150" y="0"/>
                </a:moveTo>
                <a:lnTo>
                  <a:pt x="9389" y="0"/>
                </a:lnTo>
                <a:cubicBezTo>
                  <a:pt x="9470" y="0"/>
                  <a:pt x="9538" y="56"/>
                  <a:pt x="9538" y="125"/>
                </a:cubicBezTo>
                <a:lnTo>
                  <a:pt x="9538" y="2507"/>
                </a:lnTo>
                <a:cubicBezTo>
                  <a:pt x="9538" y="2576"/>
                  <a:pt x="9470" y="2632"/>
                  <a:pt x="9389" y="2632"/>
                </a:cubicBezTo>
                <a:lnTo>
                  <a:pt x="150" y="2632"/>
                </a:lnTo>
                <a:cubicBezTo>
                  <a:pt x="68" y="2632"/>
                  <a:pt x="0" y="2576"/>
                  <a:pt x="0" y="2507"/>
                </a:cubicBezTo>
                <a:lnTo>
                  <a:pt x="0" y="125"/>
                </a:lnTo>
                <a:cubicBezTo>
                  <a:pt x="0" y="56"/>
                  <a:pt x="68" y="0"/>
                  <a:pt x="150" y="0"/>
                </a:cubicBezTo>
                <a:close/>
              </a:path>
            </a:pathLst>
          </a:custGeom>
          <a:solidFill>
            <a:srgbClr val="B91C1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1055160" y="641880"/>
            <a:ext cx="7576920" cy="451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6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DASHBOARD 2 – ATTRITION ANALYSIS MATRIX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054800" y="1067040"/>
            <a:ext cx="5011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50" b="1" i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Isolating structural turnover patterns and operational risk metrics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069920" y="1836720"/>
            <a:ext cx="21150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VISUAL INTERACTIVE SLICES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1219320" y="2196360"/>
            <a:ext cx="3657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Clustered Bar Chart:</a:t>
            </a:r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 Headcount loss categorized across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1219320" y="2354040"/>
            <a:ext cx="983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business units.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219320" y="2732400"/>
            <a:ext cx="2955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Donut Charts:</a:t>
            </a:r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 Structural turnover filtered by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219320" y="2890080"/>
            <a:ext cx="17208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demographic parameters.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1219320" y="3268080"/>
            <a:ext cx="3494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Linear Timeline Plot:</a:t>
            </a:r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 Retention dips across employee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219320" y="3426120"/>
            <a:ext cx="714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age bands.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1219320" y="3804120"/>
            <a:ext cx="3326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Cross-Matrix View:</a:t>
            </a:r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 Overtime hours vs. explicit exit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1219320" y="3962160"/>
            <a:ext cx="558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reasons.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5798520" y="1653120"/>
            <a:ext cx="2543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400" b="0" u="none" strike="noStrike">
                <a:solidFill>
                  <a:srgbClr val="B91C1C"/>
                </a:solidFill>
                <a:effectLst/>
                <a:uFillTx/>
                <a:latin typeface="Noto Sans"/>
                <a:ea typeface="Noto Sans"/>
              </a:rPr>
              <a:t>Strategic Human Capital Value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5798520" y="2031840"/>
            <a:ext cx="3168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Pinpoints systemic employee departures or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5798520" y="2204280"/>
            <a:ext cx="3467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operational friction points across internal lines.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5798520" y="2376720"/>
            <a:ext cx="3366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This shifts talent oversight from retrospective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5798520" y="2549160"/>
            <a:ext cx="3313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exit notes to targeted, data-backed retention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5798520" y="2721960"/>
            <a:ext cx="779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strategies.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5952240" y="3145680"/>
            <a:ext cx="1587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0" u="none" strike="noStrike">
                <a:solidFill>
                  <a:srgbClr val="B91C1C"/>
                </a:solidFill>
                <a:effectLst/>
                <a:uFillTx/>
                <a:latin typeface="Noto Sans"/>
                <a:ea typeface="Noto Sans"/>
              </a:rPr>
              <a:t>CRITICAL SYSTEM FOCUS: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5952240" y="3324240"/>
            <a:ext cx="320004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Highlights exactly where intensive work schedules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847800" y="5418360"/>
            <a:ext cx="8383680" cy="15480"/>
          </a:xfrm>
          <a:custGeom>
            <a:avLst/>
            <a:gdLst/>
            <a:ahLst/>
            <a:rect l="0" t="0" r="r" b="b"/>
            <a:pathLst>
              <a:path w="23288" h="43">
                <a:moveTo>
                  <a:pt x="0" y="0"/>
                </a:moveTo>
                <a:lnTo>
                  <a:pt x="23288" y="0"/>
                </a:lnTo>
                <a:lnTo>
                  <a:pt x="23288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5952240" y="3496680"/>
            <a:ext cx="282636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or career stagnation directly cause key asset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5952240" y="3669480"/>
            <a:ext cx="73656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departures.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848160" y="5484240"/>
            <a:ext cx="19954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HR ANALYTICS DASHBOARD PROJECT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8850960" y="5484240"/>
            <a:ext cx="404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SLIDE 8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847800" y="623160"/>
            <a:ext cx="72720" cy="623520"/>
          </a:xfrm>
          <a:custGeom>
            <a:avLst/>
            <a:gdLst/>
            <a:ahLst/>
            <a:rect l="0" t="0" r="r" b="b"/>
            <a:pathLst>
              <a:path w="202" h="1732">
                <a:moveTo>
                  <a:pt x="0" y="0"/>
                </a:moveTo>
                <a:lnTo>
                  <a:pt x="202" y="0"/>
                </a:lnTo>
                <a:lnTo>
                  <a:pt x="202" y="1732"/>
                </a:lnTo>
                <a:lnTo>
                  <a:pt x="0" y="1732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1051560" y="1643040"/>
            <a:ext cx="1841760" cy="1879560"/>
          </a:xfrm>
          <a:custGeom>
            <a:avLst/>
            <a:gdLst/>
            <a:ahLst/>
            <a:rect l="0" t="0" r="r" b="b"/>
            <a:pathLst>
              <a:path w="5116" h="5221">
                <a:moveTo>
                  <a:pt x="4967" y="0"/>
                </a:moveTo>
                <a:cubicBezTo>
                  <a:pt x="5049" y="0"/>
                  <a:pt x="5116" y="56"/>
                  <a:pt x="5116" y="124"/>
                </a:cubicBezTo>
                <a:lnTo>
                  <a:pt x="5116" y="5095"/>
                </a:lnTo>
                <a:cubicBezTo>
                  <a:pt x="5116" y="5164"/>
                  <a:pt x="5049" y="5221"/>
                  <a:pt x="4967" y="5221"/>
                </a:cubicBezTo>
                <a:lnTo>
                  <a:pt x="150" y="5221"/>
                </a:lnTo>
                <a:cubicBezTo>
                  <a:pt x="68" y="5221"/>
                  <a:pt x="0" y="5164"/>
                  <a:pt x="0" y="5095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lnTo>
                  <a:pt x="4967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3096360" y="1643040"/>
            <a:ext cx="1841760" cy="1879560"/>
          </a:xfrm>
          <a:custGeom>
            <a:avLst/>
            <a:gdLst/>
            <a:ahLst/>
            <a:rect l="0" t="0" r="r" b="b"/>
            <a:pathLst>
              <a:path w="5116" h="5221">
                <a:moveTo>
                  <a:pt x="4966" y="0"/>
                </a:moveTo>
                <a:cubicBezTo>
                  <a:pt x="5048" y="0"/>
                  <a:pt x="5116" y="56"/>
                  <a:pt x="5116" y="124"/>
                </a:cubicBezTo>
                <a:lnTo>
                  <a:pt x="5116" y="5095"/>
                </a:lnTo>
                <a:cubicBezTo>
                  <a:pt x="5116" y="5164"/>
                  <a:pt x="5048" y="5221"/>
                  <a:pt x="4966" y="5221"/>
                </a:cubicBezTo>
                <a:lnTo>
                  <a:pt x="149" y="5221"/>
                </a:lnTo>
                <a:cubicBezTo>
                  <a:pt x="67" y="5221"/>
                  <a:pt x="0" y="5164"/>
                  <a:pt x="0" y="5095"/>
                </a:cubicBezTo>
                <a:lnTo>
                  <a:pt x="0" y="124"/>
                </a:lnTo>
                <a:cubicBezTo>
                  <a:pt x="0" y="56"/>
                  <a:pt x="67" y="0"/>
                  <a:pt x="149" y="0"/>
                </a:cubicBezTo>
                <a:lnTo>
                  <a:pt x="4966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5140800" y="1643040"/>
            <a:ext cx="1841760" cy="1879560"/>
          </a:xfrm>
          <a:custGeom>
            <a:avLst/>
            <a:gdLst/>
            <a:ahLst/>
            <a:rect l="0" t="0" r="r" b="b"/>
            <a:pathLst>
              <a:path w="5116" h="5221">
                <a:moveTo>
                  <a:pt x="4968" y="0"/>
                </a:moveTo>
                <a:cubicBezTo>
                  <a:pt x="5050" y="0"/>
                  <a:pt x="5116" y="56"/>
                  <a:pt x="5116" y="124"/>
                </a:cubicBezTo>
                <a:lnTo>
                  <a:pt x="5116" y="5095"/>
                </a:lnTo>
                <a:cubicBezTo>
                  <a:pt x="5116" y="5164"/>
                  <a:pt x="5050" y="5221"/>
                  <a:pt x="4968" y="5221"/>
                </a:cubicBezTo>
                <a:lnTo>
                  <a:pt x="151" y="5221"/>
                </a:lnTo>
                <a:cubicBezTo>
                  <a:pt x="68" y="5221"/>
                  <a:pt x="0" y="5164"/>
                  <a:pt x="0" y="5095"/>
                </a:cubicBezTo>
                <a:lnTo>
                  <a:pt x="0" y="124"/>
                </a:lnTo>
                <a:cubicBezTo>
                  <a:pt x="0" y="56"/>
                  <a:pt x="68" y="0"/>
                  <a:pt x="151" y="0"/>
                </a:cubicBezTo>
                <a:lnTo>
                  <a:pt x="4968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7186320" y="1643040"/>
            <a:ext cx="1841760" cy="1879560"/>
          </a:xfrm>
          <a:custGeom>
            <a:avLst/>
            <a:gdLst/>
            <a:ahLst/>
            <a:rect l="0" t="0" r="r" b="b"/>
            <a:pathLst>
              <a:path w="5116" h="5221">
                <a:moveTo>
                  <a:pt x="4966" y="0"/>
                </a:moveTo>
                <a:cubicBezTo>
                  <a:pt x="5048" y="0"/>
                  <a:pt x="5116" y="56"/>
                  <a:pt x="5116" y="124"/>
                </a:cubicBezTo>
                <a:lnTo>
                  <a:pt x="5116" y="5095"/>
                </a:lnTo>
                <a:cubicBezTo>
                  <a:pt x="5116" y="5164"/>
                  <a:pt x="5048" y="5221"/>
                  <a:pt x="4966" y="5221"/>
                </a:cubicBezTo>
                <a:lnTo>
                  <a:pt x="150" y="5221"/>
                </a:lnTo>
                <a:cubicBezTo>
                  <a:pt x="68" y="5221"/>
                  <a:pt x="0" y="5164"/>
                  <a:pt x="0" y="5095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lnTo>
                  <a:pt x="4966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847800" y="3748680"/>
            <a:ext cx="8383680" cy="888120"/>
          </a:xfrm>
          <a:custGeom>
            <a:avLst/>
            <a:gdLst/>
            <a:ahLst/>
            <a:rect l="0" t="0" r="r" b="b"/>
            <a:pathLst>
              <a:path w="23288" h="2467">
                <a:moveTo>
                  <a:pt x="23139" y="0"/>
                </a:moveTo>
                <a:cubicBezTo>
                  <a:pt x="23220" y="0"/>
                  <a:pt x="23288" y="56"/>
                  <a:pt x="23288" y="124"/>
                </a:cubicBezTo>
                <a:lnTo>
                  <a:pt x="23288" y="2342"/>
                </a:lnTo>
                <a:cubicBezTo>
                  <a:pt x="23288" y="2411"/>
                  <a:pt x="23220" y="2467"/>
                  <a:pt x="23139" y="2467"/>
                </a:cubicBezTo>
                <a:lnTo>
                  <a:pt x="150" y="2467"/>
                </a:lnTo>
                <a:cubicBezTo>
                  <a:pt x="68" y="2467"/>
                  <a:pt x="0" y="2411"/>
                  <a:pt x="0" y="2342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lnTo>
                  <a:pt x="23139" y="0"/>
                </a:ln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847800" y="3748680"/>
            <a:ext cx="8383680" cy="888120"/>
          </a:xfrm>
          <a:custGeom>
            <a:avLst/>
            <a:gdLst/>
            <a:ahLst/>
            <a:rect l="0" t="0" r="r" b="b"/>
            <a:pathLst>
              <a:path w="23288" h="2467">
                <a:moveTo>
                  <a:pt x="150" y="42"/>
                </a:moveTo>
                <a:lnTo>
                  <a:pt x="23139" y="42"/>
                </a:lnTo>
                <a:cubicBezTo>
                  <a:pt x="23194" y="42"/>
                  <a:pt x="23239" y="79"/>
                  <a:pt x="23239" y="124"/>
                </a:cubicBezTo>
                <a:lnTo>
                  <a:pt x="23239" y="2342"/>
                </a:lnTo>
                <a:cubicBezTo>
                  <a:pt x="23239" y="2389"/>
                  <a:pt x="23194" y="2426"/>
                  <a:pt x="23139" y="2426"/>
                </a:cubicBezTo>
                <a:lnTo>
                  <a:pt x="150" y="2426"/>
                </a:lnTo>
                <a:cubicBezTo>
                  <a:pt x="95" y="2426"/>
                  <a:pt x="49" y="2389"/>
                  <a:pt x="49" y="2342"/>
                </a:cubicBezTo>
                <a:lnTo>
                  <a:pt x="49" y="124"/>
                </a:lnTo>
                <a:cubicBezTo>
                  <a:pt x="49" y="79"/>
                  <a:pt x="95" y="42"/>
                  <a:pt x="150" y="42"/>
                </a:cubicBezTo>
                <a:moveTo>
                  <a:pt x="150" y="0"/>
                </a:moveTo>
                <a:lnTo>
                  <a:pt x="23139" y="0"/>
                </a:lnTo>
                <a:cubicBezTo>
                  <a:pt x="23220" y="0"/>
                  <a:pt x="23288" y="56"/>
                  <a:pt x="23288" y="124"/>
                </a:cubicBezTo>
                <a:lnTo>
                  <a:pt x="23288" y="2342"/>
                </a:lnTo>
                <a:cubicBezTo>
                  <a:pt x="23288" y="2411"/>
                  <a:pt x="23220" y="2467"/>
                  <a:pt x="23139" y="2467"/>
                </a:cubicBezTo>
                <a:lnTo>
                  <a:pt x="150" y="2467"/>
                </a:lnTo>
                <a:cubicBezTo>
                  <a:pt x="68" y="2467"/>
                  <a:pt x="0" y="2411"/>
                  <a:pt x="0" y="2342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1055160" y="641880"/>
            <a:ext cx="8611560" cy="451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6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DASHBOARD 3 – EMPLOYEE SATISFACTION TRACKING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1055160" y="1067040"/>
            <a:ext cx="6095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50" b="1" i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Quantifying internal company culture parameters and employee sentiment shifts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1273680" y="1858680"/>
            <a:ext cx="11916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1D4ED8"/>
                </a:solidFill>
                <a:effectLst/>
                <a:uFillTx/>
                <a:latin typeface="Noto Sans"/>
                <a:ea typeface="Noto Sans"/>
              </a:rPr>
              <a:t>1. JOB SPECIFIC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1273680" y="2053440"/>
            <a:ext cx="91224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1D4ED8"/>
                </a:solidFill>
                <a:effectLst/>
                <a:uFillTx/>
                <a:latin typeface="Noto Sans"/>
                <a:ea typeface="Noto Sans"/>
              </a:rPr>
              <a:t>SENTIMENT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273680" y="2360880"/>
            <a:ext cx="9309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Evaluates role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1273680" y="2518560"/>
            <a:ext cx="10717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alignment, daily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1273680" y="2675880"/>
            <a:ext cx="1030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challenges, and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1273680" y="2833560"/>
            <a:ext cx="1441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workload distribution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1273680" y="2990880"/>
            <a:ext cx="947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scores against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1273680" y="3148560"/>
            <a:ext cx="1446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baseline benchmarks.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3318480" y="1858680"/>
            <a:ext cx="1555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047857"/>
                </a:solidFill>
                <a:effectLst/>
                <a:uFillTx/>
                <a:latin typeface="Noto Sans"/>
                <a:ea typeface="Noto Sans"/>
              </a:rPr>
              <a:t>2.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3318480" y="2053440"/>
            <a:ext cx="13651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047857"/>
                </a:solidFill>
                <a:effectLst/>
                <a:uFillTx/>
                <a:latin typeface="Noto Sans"/>
                <a:ea typeface="Noto Sans"/>
              </a:rPr>
              <a:t>ENVIRONMENTAL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3318480" y="2248560"/>
            <a:ext cx="61596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047857"/>
                </a:solidFill>
                <a:effectLst/>
                <a:uFillTx/>
                <a:latin typeface="Noto Sans"/>
                <a:ea typeface="Noto Sans"/>
              </a:rPr>
              <a:t>HEALTH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3318480" y="2556360"/>
            <a:ext cx="929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Maps physical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3318480" y="2713320"/>
            <a:ext cx="1170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location facilities,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3318480" y="2871360"/>
            <a:ext cx="1226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equipment access,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3318480" y="3028680"/>
            <a:ext cx="1337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and site satisfaction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3318480" y="3186360"/>
            <a:ext cx="507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ratings.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5363280" y="1858680"/>
            <a:ext cx="13320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4338CA"/>
                </a:solidFill>
                <a:effectLst/>
                <a:uFillTx/>
                <a:latin typeface="Noto Sans"/>
                <a:ea typeface="Noto Sans"/>
              </a:rPr>
              <a:t>3. MANAGEMENT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5363280" y="2053440"/>
            <a:ext cx="11671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4338CA"/>
                </a:solidFill>
                <a:effectLst/>
                <a:uFillTx/>
                <a:latin typeface="Noto Sans"/>
                <a:ea typeface="Noto Sans"/>
              </a:rPr>
              <a:t>CONNECTIONS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5363280" y="2360880"/>
            <a:ext cx="1019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Measures team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5363280" y="2518560"/>
            <a:ext cx="1290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relationship scores,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5363280" y="2675880"/>
            <a:ext cx="1347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collaborative agility,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5363280" y="2833560"/>
            <a:ext cx="1376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and support metrics.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7408080" y="1858680"/>
            <a:ext cx="103788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B45309"/>
                </a:solidFill>
                <a:effectLst/>
                <a:uFillTx/>
                <a:latin typeface="Noto Sans"/>
                <a:ea typeface="Noto Sans"/>
              </a:rPr>
              <a:t>4. WORK-LIFE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7408080" y="2053440"/>
            <a:ext cx="10735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B45309"/>
                </a:solidFill>
                <a:effectLst/>
                <a:uFillTx/>
                <a:latin typeface="Noto Sans"/>
                <a:ea typeface="Noto Sans"/>
              </a:rPr>
              <a:t>EQUILIBRIUM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7408080" y="2360880"/>
            <a:ext cx="1104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Monitors weekly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7408080" y="2518560"/>
            <a:ext cx="11890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overtime tracking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7408080" y="2675880"/>
            <a:ext cx="1191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indi</a:t>
            </a:r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cat</a:t>
            </a:r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ors </a:t>
            </a:r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aga</a:t>
            </a:r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inst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7408080" y="2833560"/>
            <a:ext cx="1388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local burnout trends.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1069920" y="3942360"/>
            <a:ext cx="8392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LONG-TERM OFFICE SATISFACTION TREND LINES:</a:t>
            </a:r>
            <a:r>
              <a:rPr lang="en-IN" sz="11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 Evaluates foundational cultural progress over sequential quarters.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847800" y="5418360"/>
            <a:ext cx="8383680" cy="15480"/>
          </a:xfrm>
          <a:custGeom>
            <a:avLst/>
            <a:gdLst/>
            <a:ahLst/>
            <a:rect l="0" t="0" r="r" b="b"/>
            <a:pathLst>
              <a:path w="23288" h="43">
                <a:moveTo>
                  <a:pt x="0" y="0"/>
                </a:moveTo>
                <a:lnTo>
                  <a:pt x="23288" y="0"/>
                </a:lnTo>
                <a:lnTo>
                  <a:pt x="23288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90000" tIns="-29520" rIns="90000" bIns="-295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1069920" y="4115160"/>
            <a:ext cx="8335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This allows human resource business partners to trace management successes or engagement changes directly to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1069920" y="4287240"/>
            <a:ext cx="2009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specific geographic offices. 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848160" y="5484240"/>
            <a:ext cx="1987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HR ANALYTICS DASHBOARD PROJECT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8850960" y="5484240"/>
            <a:ext cx="404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SLIDE 9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847800" y="623160"/>
            <a:ext cx="72720" cy="1013400"/>
          </a:xfrm>
          <a:custGeom>
            <a:avLst/>
            <a:gdLst/>
            <a:ahLst/>
            <a:rect l="0" t="0" r="r" b="b"/>
            <a:pathLst>
              <a:path w="202" h="2815">
                <a:moveTo>
                  <a:pt x="0" y="0"/>
                </a:moveTo>
                <a:lnTo>
                  <a:pt x="202" y="0"/>
                </a:lnTo>
                <a:lnTo>
                  <a:pt x="202" y="2815"/>
                </a:lnTo>
                <a:lnTo>
                  <a:pt x="0" y="2815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1051560" y="2202840"/>
            <a:ext cx="3886560" cy="1350360"/>
          </a:xfrm>
          <a:custGeom>
            <a:avLst/>
            <a:gdLst/>
            <a:ahLst/>
            <a:rect l="0" t="0" r="r" b="b"/>
            <a:pathLst>
              <a:path w="10796" h="3751">
                <a:moveTo>
                  <a:pt x="10647" y="0"/>
                </a:moveTo>
                <a:cubicBezTo>
                  <a:pt x="10729" y="0"/>
                  <a:pt x="10796" y="57"/>
                  <a:pt x="10796" y="125"/>
                </a:cubicBezTo>
                <a:lnTo>
                  <a:pt x="10796" y="3626"/>
                </a:lnTo>
                <a:cubicBezTo>
                  <a:pt x="10796" y="3694"/>
                  <a:pt x="10729" y="3751"/>
                  <a:pt x="10647" y="3751"/>
                </a:cubicBezTo>
                <a:lnTo>
                  <a:pt x="150" y="3751"/>
                </a:lnTo>
                <a:cubicBezTo>
                  <a:pt x="68" y="3751"/>
                  <a:pt x="0" y="3694"/>
                  <a:pt x="0" y="3626"/>
                </a:cubicBezTo>
                <a:lnTo>
                  <a:pt x="0" y="125"/>
                </a:lnTo>
                <a:cubicBezTo>
                  <a:pt x="0" y="57"/>
                  <a:pt x="68" y="0"/>
                  <a:pt x="150" y="0"/>
                </a:cubicBezTo>
                <a:lnTo>
                  <a:pt x="1064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5140800" y="2202840"/>
            <a:ext cx="3886920" cy="1350360"/>
          </a:xfrm>
          <a:custGeom>
            <a:avLst/>
            <a:gdLst/>
            <a:ahLst/>
            <a:rect l="0" t="0" r="r" b="b"/>
            <a:pathLst>
              <a:path w="10797" h="3751">
                <a:moveTo>
                  <a:pt x="10648" y="0"/>
                </a:moveTo>
                <a:cubicBezTo>
                  <a:pt x="10730" y="0"/>
                  <a:pt x="10797" y="57"/>
                  <a:pt x="10797" y="125"/>
                </a:cubicBezTo>
                <a:lnTo>
                  <a:pt x="10797" y="3626"/>
                </a:lnTo>
                <a:cubicBezTo>
                  <a:pt x="10797" y="3694"/>
                  <a:pt x="10730" y="3751"/>
                  <a:pt x="10648" y="3751"/>
                </a:cubicBezTo>
                <a:lnTo>
                  <a:pt x="151" y="3751"/>
                </a:lnTo>
                <a:cubicBezTo>
                  <a:pt x="68" y="3751"/>
                  <a:pt x="0" y="3694"/>
                  <a:pt x="0" y="3626"/>
                </a:cubicBezTo>
                <a:lnTo>
                  <a:pt x="0" y="125"/>
                </a:lnTo>
                <a:cubicBezTo>
                  <a:pt x="0" y="57"/>
                  <a:pt x="68" y="0"/>
                  <a:pt x="151" y="0"/>
                </a:cubicBezTo>
                <a:lnTo>
                  <a:pt x="1064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1051560" y="3723120"/>
            <a:ext cx="3886560" cy="1350000"/>
          </a:xfrm>
          <a:custGeom>
            <a:avLst/>
            <a:gdLst/>
            <a:ahLst/>
            <a:rect l="0" t="0" r="r" b="b"/>
            <a:pathLst>
              <a:path w="10796" h="3750">
                <a:moveTo>
                  <a:pt x="10647" y="0"/>
                </a:moveTo>
                <a:cubicBezTo>
                  <a:pt x="10729" y="0"/>
                  <a:pt x="10796" y="56"/>
                  <a:pt x="10796" y="124"/>
                </a:cubicBezTo>
                <a:lnTo>
                  <a:pt x="10796" y="3625"/>
                </a:lnTo>
                <a:cubicBezTo>
                  <a:pt x="10796" y="3693"/>
                  <a:pt x="10729" y="3750"/>
                  <a:pt x="10647" y="3750"/>
                </a:cubicBezTo>
                <a:lnTo>
                  <a:pt x="150" y="3750"/>
                </a:lnTo>
                <a:cubicBezTo>
                  <a:pt x="68" y="3750"/>
                  <a:pt x="0" y="3693"/>
                  <a:pt x="0" y="3625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lnTo>
                  <a:pt x="1064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5140800" y="3722760"/>
            <a:ext cx="3886920" cy="1350000"/>
          </a:xfrm>
          <a:custGeom>
            <a:avLst/>
            <a:gdLst/>
            <a:ahLst/>
            <a:rect l="0" t="0" r="r" b="b"/>
            <a:pathLst>
              <a:path w="10797" h="3750">
                <a:moveTo>
                  <a:pt x="10648" y="0"/>
                </a:moveTo>
                <a:cubicBezTo>
                  <a:pt x="10730" y="0"/>
                  <a:pt x="10797" y="56"/>
                  <a:pt x="10797" y="124"/>
                </a:cubicBezTo>
                <a:lnTo>
                  <a:pt x="10797" y="3625"/>
                </a:lnTo>
                <a:cubicBezTo>
                  <a:pt x="10797" y="3694"/>
                  <a:pt x="10730" y="3750"/>
                  <a:pt x="10648" y="3750"/>
                </a:cubicBezTo>
                <a:lnTo>
                  <a:pt x="151" y="3750"/>
                </a:lnTo>
                <a:cubicBezTo>
                  <a:pt x="68" y="3750"/>
                  <a:pt x="0" y="3694"/>
                  <a:pt x="0" y="3625"/>
                </a:cubicBezTo>
                <a:lnTo>
                  <a:pt x="0" y="124"/>
                </a:lnTo>
                <a:cubicBezTo>
                  <a:pt x="0" y="56"/>
                  <a:pt x="68" y="0"/>
                  <a:pt x="151" y="0"/>
                </a:cubicBezTo>
                <a:lnTo>
                  <a:pt x="1064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1051560" y="2202840"/>
            <a:ext cx="3886560" cy="1350360"/>
          </a:xfrm>
          <a:custGeom>
            <a:avLst/>
            <a:gdLst/>
            <a:ahLst/>
            <a:rect l="0" t="0" r="r" b="b"/>
            <a:pathLst>
              <a:path w="10796" h="3751">
                <a:moveTo>
                  <a:pt x="150" y="42"/>
                </a:moveTo>
                <a:lnTo>
                  <a:pt x="10647" y="42"/>
                </a:lnTo>
                <a:cubicBezTo>
                  <a:pt x="10701" y="42"/>
                  <a:pt x="10747" y="80"/>
                  <a:pt x="10747" y="125"/>
                </a:cubicBezTo>
                <a:lnTo>
                  <a:pt x="10747" y="3626"/>
                </a:lnTo>
                <a:cubicBezTo>
                  <a:pt x="10747" y="3672"/>
                  <a:pt x="10701" y="3709"/>
                  <a:pt x="10647" y="3709"/>
                </a:cubicBezTo>
                <a:lnTo>
                  <a:pt x="150" y="3709"/>
                </a:lnTo>
                <a:cubicBezTo>
                  <a:pt x="95" y="3709"/>
                  <a:pt x="49" y="3672"/>
                  <a:pt x="49" y="3626"/>
                </a:cubicBezTo>
                <a:lnTo>
                  <a:pt x="49" y="125"/>
                </a:lnTo>
                <a:cubicBezTo>
                  <a:pt x="49" y="80"/>
                  <a:pt x="95" y="42"/>
                  <a:pt x="150" y="42"/>
                </a:cubicBezTo>
                <a:moveTo>
                  <a:pt x="150" y="0"/>
                </a:moveTo>
                <a:lnTo>
                  <a:pt x="10647" y="0"/>
                </a:lnTo>
                <a:cubicBezTo>
                  <a:pt x="10729" y="0"/>
                  <a:pt x="10796" y="57"/>
                  <a:pt x="10796" y="125"/>
                </a:cubicBezTo>
                <a:lnTo>
                  <a:pt x="10796" y="3626"/>
                </a:lnTo>
                <a:cubicBezTo>
                  <a:pt x="10796" y="3694"/>
                  <a:pt x="10729" y="3751"/>
                  <a:pt x="10647" y="3751"/>
                </a:cubicBezTo>
                <a:lnTo>
                  <a:pt x="150" y="3751"/>
                </a:lnTo>
                <a:cubicBezTo>
                  <a:pt x="68" y="3751"/>
                  <a:pt x="0" y="3694"/>
                  <a:pt x="0" y="3626"/>
                </a:cubicBezTo>
                <a:lnTo>
                  <a:pt x="0" y="125"/>
                </a:lnTo>
                <a:cubicBezTo>
                  <a:pt x="0" y="57"/>
                  <a:pt x="68" y="0"/>
                  <a:pt x="150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5140800" y="2202840"/>
            <a:ext cx="3886920" cy="1350360"/>
          </a:xfrm>
          <a:custGeom>
            <a:avLst/>
            <a:gdLst/>
            <a:ahLst/>
            <a:rect l="0" t="0" r="r" b="b"/>
            <a:pathLst>
              <a:path w="10797" h="3751">
                <a:moveTo>
                  <a:pt x="151" y="42"/>
                </a:moveTo>
                <a:lnTo>
                  <a:pt x="10648" y="42"/>
                </a:lnTo>
                <a:cubicBezTo>
                  <a:pt x="10702" y="42"/>
                  <a:pt x="10748" y="80"/>
                  <a:pt x="10748" y="125"/>
                </a:cubicBezTo>
                <a:lnTo>
                  <a:pt x="10748" y="3626"/>
                </a:lnTo>
                <a:cubicBezTo>
                  <a:pt x="10748" y="3672"/>
                  <a:pt x="10702" y="3709"/>
                  <a:pt x="10648" y="3709"/>
                </a:cubicBezTo>
                <a:lnTo>
                  <a:pt x="151" y="3709"/>
                </a:lnTo>
                <a:cubicBezTo>
                  <a:pt x="95" y="3709"/>
                  <a:pt x="51" y="3672"/>
                  <a:pt x="51" y="3626"/>
                </a:cubicBezTo>
                <a:lnTo>
                  <a:pt x="51" y="125"/>
                </a:lnTo>
                <a:cubicBezTo>
                  <a:pt x="51" y="80"/>
                  <a:pt x="95" y="42"/>
                  <a:pt x="151" y="42"/>
                </a:cubicBezTo>
                <a:moveTo>
                  <a:pt x="151" y="0"/>
                </a:moveTo>
                <a:lnTo>
                  <a:pt x="10648" y="0"/>
                </a:lnTo>
                <a:cubicBezTo>
                  <a:pt x="10730" y="0"/>
                  <a:pt x="10797" y="57"/>
                  <a:pt x="10797" y="125"/>
                </a:cubicBezTo>
                <a:lnTo>
                  <a:pt x="10797" y="3626"/>
                </a:lnTo>
                <a:cubicBezTo>
                  <a:pt x="10797" y="3694"/>
                  <a:pt x="10730" y="3751"/>
                  <a:pt x="10648" y="3751"/>
                </a:cubicBezTo>
                <a:lnTo>
                  <a:pt x="151" y="3751"/>
                </a:lnTo>
                <a:cubicBezTo>
                  <a:pt x="68" y="3751"/>
                  <a:pt x="0" y="3694"/>
                  <a:pt x="0" y="3626"/>
                </a:cubicBezTo>
                <a:lnTo>
                  <a:pt x="0" y="125"/>
                </a:lnTo>
                <a:cubicBezTo>
                  <a:pt x="0" y="57"/>
                  <a:pt x="68" y="0"/>
                  <a:pt x="151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1051560" y="3723120"/>
            <a:ext cx="3886560" cy="1350000"/>
          </a:xfrm>
          <a:custGeom>
            <a:avLst/>
            <a:gdLst/>
            <a:ahLst/>
            <a:rect l="0" t="0" r="r" b="b"/>
            <a:pathLst>
              <a:path w="10796" h="3750">
                <a:moveTo>
                  <a:pt x="150" y="42"/>
                </a:moveTo>
                <a:lnTo>
                  <a:pt x="10647" y="42"/>
                </a:lnTo>
                <a:cubicBezTo>
                  <a:pt x="10701" y="42"/>
                  <a:pt x="10747" y="79"/>
                  <a:pt x="10747" y="124"/>
                </a:cubicBezTo>
                <a:lnTo>
                  <a:pt x="10747" y="3625"/>
                </a:lnTo>
                <a:cubicBezTo>
                  <a:pt x="10747" y="3671"/>
                  <a:pt x="10701" y="3708"/>
                  <a:pt x="10647" y="3708"/>
                </a:cubicBezTo>
                <a:lnTo>
                  <a:pt x="150" y="3708"/>
                </a:lnTo>
                <a:cubicBezTo>
                  <a:pt x="95" y="3708"/>
                  <a:pt x="49" y="3671"/>
                  <a:pt x="49" y="3625"/>
                </a:cubicBezTo>
                <a:lnTo>
                  <a:pt x="49" y="124"/>
                </a:lnTo>
                <a:cubicBezTo>
                  <a:pt x="49" y="79"/>
                  <a:pt x="95" y="42"/>
                  <a:pt x="150" y="42"/>
                </a:cubicBezTo>
                <a:moveTo>
                  <a:pt x="150" y="0"/>
                </a:moveTo>
                <a:lnTo>
                  <a:pt x="10647" y="0"/>
                </a:lnTo>
                <a:cubicBezTo>
                  <a:pt x="10729" y="0"/>
                  <a:pt x="10796" y="56"/>
                  <a:pt x="10796" y="124"/>
                </a:cubicBezTo>
                <a:lnTo>
                  <a:pt x="10796" y="3625"/>
                </a:lnTo>
                <a:cubicBezTo>
                  <a:pt x="10796" y="3693"/>
                  <a:pt x="10729" y="3750"/>
                  <a:pt x="10647" y="3750"/>
                </a:cubicBezTo>
                <a:lnTo>
                  <a:pt x="150" y="3750"/>
                </a:lnTo>
                <a:cubicBezTo>
                  <a:pt x="68" y="3750"/>
                  <a:pt x="0" y="3693"/>
                  <a:pt x="0" y="3625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5140800" y="3722760"/>
            <a:ext cx="3886920" cy="1350000"/>
          </a:xfrm>
          <a:custGeom>
            <a:avLst/>
            <a:gdLst/>
            <a:ahLst/>
            <a:rect l="0" t="0" r="r" b="b"/>
            <a:pathLst>
              <a:path w="10797" h="3750">
                <a:moveTo>
                  <a:pt x="151" y="42"/>
                </a:moveTo>
                <a:lnTo>
                  <a:pt x="10648" y="42"/>
                </a:lnTo>
                <a:cubicBezTo>
                  <a:pt x="10702" y="42"/>
                  <a:pt x="10748" y="79"/>
                  <a:pt x="10748" y="124"/>
                </a:cubicBezTo>
                <a:lnTo>
                  <a:pt x="10748" y="3625"/>
                </a:lnTo>
                <a:cubicBezTo>
                  <a:pt x="10748" y="3671"/>
                  <a:pt x="10702" y="3709"/>
                  <a:pt x="10648" y="3709"/>
                </a:cubicBezTo>
                <a:lnTo>
                  <a:pt x="151" y="3709"/>
                </a:lnTo>
                <a:cubicBezTo>
                  <a:pt x="95" y="3709"/>
                  <a:pt x="51" y="3671"/>
                  <a:pt x="51" y="3625"/>
                </a:cubicBezTo>
                <a:lnTo>
                  <a:pt x="51" y="124"/>
                </a:lnTo>
                <a:cubicBezTo>
                  <a:pt x="51" y="79"/>
                  <a:pt x="95" y="42"/>
                  <a:pt x="151" y="42"/>
                </a:cubicBezTo>
                <a:moveTo>
                  <a:pt x="151" y="0"/>
                </a:moveTo>
                <a:lnTo>
                  <a:pt x="10648" y="0"/>
                </a:lnTo>
                <a:cubicBezTo>
                  <a:pt x="10730" y="0"/>
                  <a:pt x="10797" y="56"/>
                  <a:pt x="10797" y="124"/>
                </a:cubicBezTo>
                <a:lnTo>
                  <a:pt x="10797" y="3625"/>
                </a:lnTo>
                <a:cubicBezTo>
                  <a:pt x="10797" y="3694"/>
                  <a:pt x="10730" y="3750"/>
                  <a:pt x="10648" y="3750"/>
                </a:cubicBezTo>
                <a:lnTo>
                  <a:pt x="151" y="3750"/>
                </a:lnTo>
                <a:cubicBezTo>
                  <a:pt x="68" y="3750"/>
                  <a:pt x="0" y="3694"/>
                  <a:pt x="0" y="3625"/>
                </a:cubicBezTo>
                <a:lnTo>
                  <a:pt x="0" y="124"/>
                </a:lnTo>
                <a:cubicBezTo>
                  <a:pt x="0" y="56"/>
                  <a:pt x="68" y="0"/>
                  <a:pt x="151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1055160" y="641880"/>
            <a:ext cx="7835040" cy="451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6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DASHBOARD 5 – WORKFORCE DEMOGRAPHICS &amp;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1055160" y="1032120"/>
            <a:ext cx="1697400" cy="451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6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DIVERSITY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1055160" y="1456920"/>
            <a:ext cx="6320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50" b="1" i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Comprehensive organizational baseline profiling across locations and demographics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1239480" y="2372040"/>
            <a:ext cx="2152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1239480" y="2695320"/>
            <a:ext cx="23544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SPATIAL GEOGRAPHY MAPPING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1239480" y="2930400"/>
            <a:ext cx="3605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Pinpoints multi-layered employee concentration levels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239480" y="3087720"/>
            <a:ext cx="3634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across international operations and remote hubs using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1239480" y="3245040"/>
            <a:ext cx="1572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interactive map visuals.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5329440" y="2372040"/>
            <a:ext cx="2152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B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5329440" y="2695320"/>
            <a:ext cx="2364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TENURE &amp; EXPERIENCE PILLARS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5329440" y="2930400"/>
            <a:ext cx="3199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Histograms display overall corporate tenure and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5329440" y="3087720"/>
            <a:ext cx="3076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experience curves, highlighting organizational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5329440" y="3245040"/>
            <a:ext cx="3173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knowledge retention and junior recruiting lines.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1239480" y="3891600"/>
            <a:ext cx="2152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C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1239480" y="4215240"/>
            <a:ext cx="2719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GENDER REPRESENTATION FUNNELS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1239480" y="4449960"/>
            <a:ext cx="3391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Evaluates gender balance metrics across ascending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1239480" y="4607640"/>
            <a:ext cx="3156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corporate positions to support internal equality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1239480" y="4764960"/>
            <a:ext cx="519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targets.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5329440" y="3891600"/>
            <a:ext cx="2152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D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5329440" y="4215240"/>
            <a:ext cx="2320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EDUCATIONAL CORE MATRICES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5329440" y="4449960"/>
            <a:ext cx="2990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Tracks educational background areas against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847800" y="5418360"/>
            <a:ext cx="8383680" cy="15480"/>
          </a:xfrm>
          <a:custGeom>
            <a:avLst/>
            <a:gdLst/>
            <a:ahLst/>
            <a:rect l="0" t="0" r="r" b="b"/>
            <a:pathLst>
              <a:path w="23288" h="43">
                <a:moveTo>
                  <a:pt x="0" y="0"/>
                </a:moveTo>
                <a:lnTo>
                  <a:pt x="23288" y="0"/>
                </a:lnTo>
                <a:lnTo>
                  <a:pt x="23288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90000" tIns="-29520" rIns="90000" bIns="-295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5329440" y="4607640"/>
            <a:ext cx="2963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functional operational roles to map strategic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5329440" y="4764960"/>
            <a:ext cx="794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capabilities.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848160" y="5484240"/>
            <a:ext cx="1987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HR ANALYTICS DASHBOARD PROJECT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8789400" y="5484240"/>
            <a:ext cx="469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SLIDE 11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847800" y="623160"/>
            <a:ext cx="72720" cy="623520"/>
          </a:xfrm>
          <a:custGeom>
            <a:avLst/>
            <a:gdLst/>
            <a:ahLst/>
            <a:rect l="0" t="0" r="r" b="b"/>
            <a:pathLst>
              <a:path w="202" h="1732">
                <a:moveTo>
                  <a:pt x="0" y="0"/>
                </a:moveTo>
                <a:lnTo>
                  <a:pt x="202" y="0"/>
                </a:lnTo>
                <a:lnTo>
                  <a:pt x="202" y="1732"/>
                </a:lnTo>
                <a:lnTo>
                  <a:pt x="0" y="1732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847800" y="1643040"/>
            <a:ext cx="4271760" cy="2271960"/>
          </a:xfrm>
          <a:custGeom>
            <a:avLst/>
            <a:gdLst/>
            <a:ahLst/>
            <a:rect l="0" t="0" r="r" b="b"/>
            <a:pathLst>
              <a:path w="11866" h="6311">
                <a:moveTo>
                  <a:pt x="11718" y="0"/>
                </a:moveTo>
                <a:cubicBezTo>
                  <a:pt x="11800" y="0"/>
                  <a:pt x="11866" y="56"/>
                  <a:pt x="11866" y="124"/>
                </a:cubicBezTo>
                <a:lnTo>
                  <a:pt x="11866" y="6187"/>
                </a:lnTo>
                <a:cubicBezTo>
                  <a:pt x="11866" y="6255"/>
                  <a:pt x="11800" y="6311"/>
                  <a:pt x="11718" y="6311"/>
                </a:cubicBezTo>
                <a:lnTo>
                  <a:pt x="150" y="6311"/>
                </a:lnTo>
                <a:cubicBezTo>
                  <a:pt x="68" y="6311"/>
                  <a:pt x="0" y="6255"/>
                  <a:pt x="0" y="6187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lnTo>
                  <a:pt x="11718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847800" y="1643040"/>
            <a:ext cx="4271760" cy="2271960"/>
          </a:xfrm>
          <a:custGeom>
            <a:avLst/>
            <a:gdLst/>
            <a:ahLst/>
            <a:rect l="0" t="0" r="r" b="b"/>
            <a:pathLst>
              <a:path w="11866" h="6311">
                <a:moveTo>
                  <a:pt x="150" y="41"/>
                </a:moveTo>
                <a:lnTo>
                  <a:pt x="11718" y="41"/>
                </a:lnTo>
                <a:cubicBezTo>
                  <a:pt x="11772" y="41"/>
                  <a:pt x="11817" y="79"/>
                  <a:pt x="11817" y="124"/>
                </a:cubicBezTo>
                <a:lnTo>
                  <a:pt x="11817" y="6187"/>
                </a:lnTo>
                <a:cubicBezTo>
                  <a:pt x="11817" y="6233"/>
                  <a:pt x="11772" y="6270"/>
                  <a:pt x="11718" y="6270"/>
                </a:cubicBezTo>
                <a:lnTo>
                  <a:pt x="150" y="6270"/>
                </a:lnTo>
                <a:cubicBezTo>
                  <a:pt x="95" y="6270"/>
                  <a:pt x="49" y="6233"/>
                  <a:pt x="49" y="6187"/>
                </a:cubicBezTo>
                <a:lnTo>
                  <a:pt x="49" y="124"/>
                </a:lnTo>
                <a:cubicBezTo>
                  <a:pt x="49" y="79"/>
                  <a:pt x="95" y="41"/>
                  <a:pt x="150" y="41"/>
                </a:cubicBezTo>
                <a:moveTo>
                  <a:pt x="150" y="0"/>
                </a:moveTo>
                <a:lnTo>
                  <a:pt x="11718" y="0"/>
                </a:lnTo>
                <a:cubicBezTo>
                  <a:pt x="11800" y="0"/>
                  <a:pt x="11866" y="56"/>
                  <a:pt x="11866" y="124"/>
                </a:cubicBezTo>
                <a:lnTo>
                  <a:pt x="11866" y="6187"/>
                </a:lnTo>
                <a:cubicBezTo>
                  <a:pt x="11866" y="6255"/>
                  <a:pt x="11800" y="6311"/>
                  <a:pt x="11718" y="6311"/>
                </a:cubicBezTo>
                <a:lnTo>
                  <a:pt x="150" y="6311"/>
                </a:lnTo>
                <a:cubicBezTo>
                  <a:pt x="68" y="6311"/>
                  <a:pt x="0" y="6255"/>
                  <a:pt x="0" y="6187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1069200" y="2121480"/>
            <a:ext cx="3828960" cy="451800"/>
          </a:xfrm>
          <a:custGeom>
            <a:avLst/>
            <a:gdLst/>
            <a:ahLst/>
            <a:rect l="0" t="0" r="r" b="b"/>
            <a:pathLst>
              <a:path w="10636" h="1255">
                <a:moveTo>
                  <a:pt x="10537" y="0"/>
                </a:moveTo>
                <a:cubicBezTo>
                  <a:pt x="10592" y="0"/>
                  <a:pt x="10636" y="38"/>
                  <a:pt x="10636" y="83"/>
                </a:cubicBezTo>
                <a:lnTo>
                  <a:pt x="10636" y="1171"/>
                </a:lnTo>
                <a:cubicBezTo>
                  <a:pt x="10636" y="1217"/>
                  <a:pt x="10592" y="1255"/>
                  <a:pt x="10537" y="1255"/>
                </a:cubicBezTo>
                <a:lnTo>
                  <a:pt x="101" y="1255"/>
                </a:lnTo>
                <a:cubicBezTo>
                  <a:pt x="46" y="1255"/>
                  <a:pt x="0" y="1217"/>
                  <a:pt x="0" y="1171"/>
                </a:cubicBezTo>
                <a:lnTo>
                  <a:pt x="0" y="83"/>
                </a:lnTo>
                <a:cubicBezTo>
                  <a:pt x="0" y="38"/>
                  <a:pt x="46" y="0"/>
                  <a:pt x="101" y="0"/>
                </a:cubicBezTo>
                <a:lnTo>
                  <a:pt x="1053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1069200" y="2121480"/>
            <a:ext cx="3828960" cy="451800"/>
          </a:xfrm>
          <a:custGeom>
            <a:avLst/>
            <a:gdLst/>
            <a:ahLst/>
            <a:rect l="0" t="0" r="r" b="b"/>
            <a:pathLst>
              <a:path w="10636" h="1255">
                <a:moveTo>
                  <a:pt x="101" y="32"/>
                </a:moveTo>
                <a:lnTo>
                  <a:pt x="10537" y="32"/>
                </a:lnTo>
                <a:cubicBezTo>
                  <a:pt x="10570" y="32"/>
                  <a:pt x="10599" y="55"/>
                  <a:pt x="10599" y="83"/>
                </a:cubicBezTo>
                <a:lnTo>
                  <a:pt x="10599" y="1171"/>
                </a:lnTo>
                <a:cubicBezTo>
                  <a:pt x="10599" y="1200"/>
                  <a:pt x="10570" y="1223"/>
                  <a:pt x="10537" y="1223"/>
                </a:cubicBezTo>
                <a:lnTo>
                  <a:pt x="101" y="1223"/>
                </a:lnTo>
                <a:cubicBezTo>
                  <a:pt x="66" y="1223"/>
                  <a:pt x="39" y="1200"/>
                  <a:pt x="39" y="1171"/>
                </a:cubicBezTo>
                <a:lnTo>
                  <a:pt x="39" y="83"/>
                </a:lnTo>
                <a:cubicBezTo>
                  <a:pt x="39" y="55"/>
                  <a:pt x="66" y="32"/>
                  <a:pt x="101" y="32"/>
                </a:cubicBezTo>
                <a:moveTo>
                  <a:pt x="101" y="0"/>
                </a:moveTo>
                <a:lnTo>
                  <a:pt x="10537" y="0"/>
                </a:lnTo>
                <a:cubicBezTo>
                  <a:pt x="10592" y="0"/>
                  <a:pt x="10636" y="38"/>
                  <a:pt x="10636" y="83"/>
                </a:cubicBezTo>
                <a:lnTo>
                  <a:pt x="10636" y="1171"/>
                </a:lnTo>
                <a:cubicBezTo>
                  <a:pt x="10636" y="1217"/>
                  <a:pt x="10592" y="1255"/>
                  <a:pt x="10537" y="1255"/>
                </a:cubicBezTo>
                <a:lnTo>
                  <a:pt x="101" y="1255"/>
                </a:lnTo>
                <a:cubicBezTo>
                  <a:pt x="46" y="1255"/>
                  <a:pt x="0" y="1217"/>
                  <a:pt x="0" y="1171"/>
                </a:cubicBezTo>
                <a:lnTo>
                  <a:pt x="0" y="83"/>
                </a:lnTo>
                <a:cubicBezTo>
                  <a:pt x="0" y="38"/>
                  <a:pt x="46" y="0"/>
                  <a:pt x="101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1069200" y="2657520"/>
            <a:ext cx="3828960" cy="451800"/>
          </a:xfrm>
          <a:custGeom>
            <a:avLst/>
            <a:gdLst/>
            <a:ahLst/>
            <a:rect l="0" t="0" r="r" b="b"/>
            <a:pathLst>
              <a:path w="10636" h="1255">
                <a:moveTo>
                  <a:pt x="10537" y="0"/>
                </a:moveTo>
                <a:cubicBezTo>
                  <a:pt x="10592" y="0"/>
                  <a:pt x="10636" y="38"/>
                  <a:pt x="10636" y="83"/>
                </a:cubicBezTo>
                <a:lnTo>
                  <a:pt x="10636" y="1171"/>
                </a:lnTo>
                <a:cubicBezTo>
                  <a:pt x="10636" y="1217"/>
                  <a:pt x="10592" y="1255"/>
                  <a:pt x="10537" y="1255"/>
                </a:cubicBezTo>
                <a:lnTo>
                  <a:pt x="101" y="1255"/>
                </a:lnTo>
                <a:cubicBezTo>
                  <a:pt x="46" y="1255"/>
                  <a:pt x="0" y="1217"/>
                  <a:pt x="0" y="1171"/>
                </a:cubicBezTo>
                <a:lnTo>
                  <a:pt x="0" y="83"/>
                </a:lnTo>
                <a:cubicBezTo>
                  <a:pt x="0" y="38"/>
                  <a:pt x="46" y="0"/>
                  <a:pt x="101" y="0"/>
                </a:cubicBezTo>
                <a:lnTo>
                  <a:pt x="1053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1069200" y="2657520"/>
            <a:ext cx="3828960" cy="451800"/>
          </a:xfrm>
          <a:custGeom>
            <a:avLst/>
            <a:gdLst/>
            <a:ahLst/>
            <a:rect l="0" t="0" r="r" b="b"/>
            <a:pathLst>
              <a:path w="10636" h="1255">
                <a:moveTo>
                  <a:pt x="101" y="32"/>
                </a:moveTo>
                <a:lnTo>
                  <a:pt x="10537" y="32"/>
                </a:lnTo>
                <a:cubicBezTo>
                  <a:pt x="10570" y="32"/>
                  <a:pt x="10599" y="55"/>
                  <a:pt x="10599" y="83"/>
                </a:cubicBezTo>
                <a:lnTo>
                  <a:pt x="10599" y="1171"/>
                </a:lnTo>
                <a:cubicBezTo>
                  <a:pt x="10599" y="1199"/>
                  <a:pt x="10570" y="1223"/>
                  <a:pt x="10537" y="1223"/>
                </a:cubicBezTo>
                <a:lnTo>
                  <a:pt x="101" y="1223"/>
                </a:lnTo>
                <a:cubicBezTo>
                  <a:pt x="66" y="1223"/>
                  <a:pt x="39" y="1199"/>
                  <a:pt x="39" y="1171"/>
                </a:cubicBezTo>
                <a:lnTo>
                  <a:pt x="39" y="83"/>
                </a:lnTo>
                <a:cubicBezTo>
                  <a:pt x="39" y="55"/>
                  <a:pt x="66" y="32"/>
                  <a:pt x="101" y="32"/>
                </a:cubicBezTo>
                <a:moveTo>
                  <a:pt x="101" y="0"/>
                </a:moveTo>
                <a:lnTo>
                  <a:pt x="10537" y="0"/>
                </a:lnTo>
                <a:cubicBezTo>
                  <a:pt x="10592" y="0"/>
                  <a:pt x="10636" y="38"/>
                  <a:pt x="10636" y="83"/>
                </a:cubicBezTo>
                <a:lnTo>
                  <a:pt x="10636" y="1171"/>
                </a:lnTo>
                <a:cubicBezTo>
                  <a:pt x="10636" y="1217"/>
                  <a:pt x="10592" y="1255"/>
                  <a:pt x="10537" y="1255"/>
                </a:cubicBezTo>
                <a:lnTo>
                  <a:pt x="101" y="1255"/>
                </a:lnTo>
                <a:cubicBezTo>
                  <a:pt x="46" y="1255"/>
                  <a:pt x="0" y="1217"/>
                  <a:pt x="0" y="1171"/>
                </a:cubicBezTo>
                <a:lnTo>
                  <a:pt x="0" y="83"/>
                </a:lnTo>
                <a:cubicBezTo>
                  <a:pt x="0" y="38"/>
                  <a:pt x="46" y="0"/>
                  <a:pt x="101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1069200" y="3193560"/>
            <a:ext cx="3828960" cy="451440"/>
          </a:xfrm>
          <a:custGeom>
            <a:avLst/>
            <a:gdLst/>
            <a:ahLst/>
            <a:rect l="0" t="0" r="r" b="b"/>
            <a:pathLst>
              <a:path w="10636" h="1254">
                <a:moveTo>
                  <a:pt x="10537" y="0"/>
                </a:moveTo>
                <a:cubicBezTo>
                  <a:pt x="10592" y="0"/>
                  <a:pt x="10636" y="37"/>
                  <a:pt x="10636" y="83"/>
                </a:cubicBezTo>
                <a:lnTo>
                  <a:pt x="10636" y="1171"/>
                </a:lnTo>
                <a:cubicBezTo>
                  <a:pt x="10636" y="1217"/>
                  <a:pt x="10592" y="1254"/>
                  <a:pt x="10537" y="1254"/>
                </a:cubicBezTo>
                <a:lnTo>
                  <a:pt x="101" y="1254"/>
                </a:lnTo>
                <a:cubicBezTo>
                  <a:pt x="46" y="1254"/>
                  <a:pt x="0" y="1217"/>
                  <a:pt x="0" y="1171"/>
                </a:cubicBezTo>
                <a:lnTo>
                  <a:pt x="0" y="83"/>
                </a:lnTo>
                <a:cubicBezTo>
                  <a:pt x="0" y="37"/>
                  <a:pt x="46" y="0"/>
                  <a:pt x="101" y="0"/>
                </a:cubicBezTo>
                <a:lnTo>
                  <a:pt x="1053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1069200" y="3193560"/>
            <a:ext cx="3828960" cy="451440"/>
          </a:xfrm>
          <a:custGeom>
            <a:avLst/>
            <a:gdLst/>
            <a:ahLst/>
            <a:rect l="0" t="0" r="r" b="b"/>
            <a:pathLst>
              <a:path w="10636" h="1254">
                <a:moveTo>
                  <a:pt x="101" y="31"/>
                </a:moveTo>
                <a:lnTo>
                  <a:pt x="10537" y="31"/>
                </a:lnTo>
                <a:cubicBezTo>
                  <a:pt x="10570" y="31"/>
                  <a:pt x="10599" y="54"/>
                  <a:pt x="10599" y="83"/>
                </a:cubicBezTo>
                <a:lnTo>
                  <a:pt x="10599" y="1171"/>
                </a:lnTo>
                <a:cubicBezTo>
                  <a:pt x="10599" y="1199"/>
                  <a:pt x="10570" y="1223"/>
                  <a:pt x="10537" y="1223"/>
                </a:cubicBezTo>
                <a:lnTo>
                  <a:pt x="101" y="1223"/>
                </a:lnTo>
                <a:cubicBezTo>
                  <a:pt x="66" y="1223"/>
                  <a:pt x="39" y="1199"/>
                  <a:pt x="39" y="1171"/>
                </a:cubicBezTo>
                <a:lnTo>
                  <a:pt x="39" y="83"/>
                </a:lnTo>
                <a:cubicBezTo>
                  <a:pt x="39" y="54"/>
                  <a:pt x="66" y="31"/>
                  <a:pt x="101" y="31"/>
                </a:cubicBezTo>
                <a:moveTo>
                  <a:pt x="101" y="0"/>
                </a:moveTo>
                <a:lnTo>
                  <a:pt x="10537" y="0"/>
                </a:lnTo>
                <a:cubicBezTo>
                  <a:pt x="10592" y="0"/>
                  <a:pt x="10636" y="37"/>
                  <a:pt x="10636" y="83"/>
                </a:cubicBezTo>
                <a:lnTo>
                  <a:pt x="10636" y="1171"/>
                </a:lnTo>
                <a:cubicBezTo>
                  <a:pt x="10636" y="1217"/>
                  <a:pt x="10592" y="1254"/>
                  <a:pt x="10537" y="1254"/>
                </a:cubicBezTo>
                <a:lnTo>
                  <a:pt x="101" y="1254"/>
                </a:lnTo>
                <a:cubicBezTo>
                  <a:pt x="46" y="1254"/>
                  <a:pt x="0" y="1217"/>
                  <a:pt x="0" y="1171"/>
                </a:cubicBezTo>
                <a:lnTo>
                  <a:pt x="0" y="83"/>
                </a:lnTo>
                <a:cubicBezTo>
                  <a:pt x="0" y="37"/>
                  <a:pt x="46" y="0"/>
                  <a:pt x="101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1055160" y="641880"/>
            <a:ext cx="8610120" cy="451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6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DASHBOARD 6 – RECRUITMENT PIPELINE &amp; VELOCITY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1054800" y="1067040"/>
            <a:ext cx="5417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50" b="1" i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Analyzing candidate intake trends, sourcing channels, and hiring speeds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1069920" y="1836720"/>
            <a:ext cx="2874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TALENT ACQUISITION PIPELINE VIEWS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1219320" y="2196360"/>
            <a:ext cx="3593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Time-Series Area Charts:</a:t>
            </a:r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 Displays quarterly headcount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1219320" y="2354040"/>
            <a:ext cx="1820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onboarding velocity trends.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1219320" y="2732400"/>
            <a:ext cx="3202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Hierarchical Tree Maps:</a:t>
            </a:r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 Groups hiring metrics by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1219320" y="2890080"/>
            <a:ext cx="2673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department and </a:t>
            </a:r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academic </a:t>
            </a:r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backgrounds.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1219320" y="3268080"/>
            <a:ext cx="3522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Geographic Bubble Slices:</a:t>
            </a:r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 Measures pipeline volumes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1219320" y="3426120"/>
            <a:ext cx="1960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from specific talent locations.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5798520" y="1653120"/>
            <a:ext cx="26035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4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Strategic Talent Sourcing Focus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5798520" y="2031840"/>
            <a:ext cx="30178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Gives recruitment specialists and hiring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5798520" y="2211840"/>
            <a:ext cx="35906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ma</a:t>
            </a:r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na</a:t>
            </a:r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ger</a:t>
            </a:r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s </a:t>
            </a:r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em</a:t>
            </a:r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piri</a:t>
            </a:r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cal </a:t>
            </a:r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cla</a:t>
            </a:r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rit</a:t>
            </a:r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y </a:t>
            </a:r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ov</a:t>
            </a:r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er </a:t>
            </a:r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op</a:t>
            </a:r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en </a:t>
            </a:r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rol</a:t>
            </a:r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 </a:t>
            </a:r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cyc</a:t>
            </a:r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le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5798520" y="2391840"/>
            <a:ext cx="3156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speeds. This visibility reduces onboarding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5798520" y="2571840"/>
            <a:ext cx="3369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delays, directs recruitment spending toward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5798520" y="2751840"/>
            <a:ext cx="28749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top-performing networks, and shapes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847800" y="5418360"/>
            <a:ext cx="8383680" cy="15480"/>
          </a:xfrm>
          <a:custGeom>
            <a:avLst/>
            <a:gdLst/>
            <a:ahLst/>
            <a:rect l="0" t="0" r="r" b="b"/>
            <a:pathLst>
              <a:path w="23288" h="43">
                <a:moveTo>
                  <a:pt x="0" y="0"/>
                </a:moveTo>
                <a:lnTo>
                  <a:pt x="23288" y="0"/>
                </a:lnTo>
                <a:lnTo>
                  <a:pt x="23288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90000" tIns="-29520" rIns="90000" bIns="-295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5798520" y="2931840"/>
            <a:ext cx="33732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expansion frameworks to align with modern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5798520" y="3111840"/>
            <a:ext cx="1956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corporate scaling targets.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848160" y="5484240"/>
            <a:ext cx="1987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HR ANALYTICS DASHBOARD PROJECT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8789400" y="5484240"/>
            <a:ext cx="469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SLIDE 12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847800" y="623160"/>
            <a:ext cx="72720" cy="1013400"/>
          </a:xfrm>
          <a:custGeom>
            <a:avLst/>
            <a:gdLst/>
            <a:ahLst/>
            <a:rect l="0" t="0" r="r" b="b"/>
            <a:pathLst>
              <a:path w="202" h="2815">
                <a:moveTo>
                  <a:pt x="0" y="0"/>
                </a:moveTo>
                <a:lnTo>
                  <a:pt x="202" y="0"/>
                </a:lnTo>
                <a:lnTo>
                  <a:pt x="202" y="2815"/>
                </a:lnTo>
                <a:lnTo>
                  <a:pt x="0" y="2815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847800" y="2384640"/>
            <a:ext cx="3853080" cy="1447560"/>
          </a:xfrm>
          <a:custGeom>
            <a:avLst/>
            <a:gdLst/>
            <a:ahLst/>
            <a:rect l="0" t="0" r="r" b="b"/>
            <a:pathLst>
              <a:path w="10703" h="4021">
                <a:moveTo>
                  <a:pt x="10553" y="0"/>
                </a:moveTo>
                <a:cubicBezTo>
                  <a:pt x="10635" y="0"/>
                  <a:pt x="10703" y="57"/>
                  <a:pt x="10703" y="125"/>
                </a:cubicBezTo>
                <a:lnTo>
                  <a:pt x="10703" y="3897"/>
                </a:lnTo>
                <a:cubicBezTo>
                  <a:pt x="10703" y="3965"/>
                  <a:pt x="10635" y="4021"/>
                  <a:pt x="10553" y="4021"/>
                </a:cubicBezTo>
                <a:lnTo>
                  <a:pt x="150" y="4021"/>
                </a:lnTo>
                <a:cubicBezTo>
                  <a:pt x="68" y="4021"/>
                  <a:pt x="0" y="3965"/>
                  <a:pt x="0" y="3897"/>
                </a:cubicBezTo>
                <a:lnTo>
                  <a:pt x="0" y="125"/>
                </a:lnTo>
                <a:cubicBezTo>
                  <a:pt x="0" y="57"/>
                  <a:pt x="68" y="0"/>
                  <a:pt x="150" y="0"/>
                </a:cubicBezTo>
                <a:lnTo>
                  <a:pt x="10553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5378760" y="2384640"/>
            <a:ext cx="3852720" cy="1447560"/>
          </a:xfrm>
          <a:custGeom>
            <a:avLst/>
            <a:gdLst/>
            <a:ahLst/>
            <a:rect l="0" t="0" r="r" b="b"/>
            <a:pathLst>
              <a:path w="10702" h="4021">
                <a:moveTo>
                  <a:pt x="10553" y="0"/>
                </a:moveTo>
                <a:cubicBezTo>
                  <a:pt x="10634" y="0"/>
                  <a:pt x="10702" y="57"/>
                  <a:pt x="10702" y="125"/>
                </a:cubicBezTo>
                <a:lnTo>
                  <a:pt x="10702" y="3897"/>
                </a:lnTo>
                <a:cubicBezTo>
                  <a:pt x="10702" y="3965"/>
                  <a:pt x="10634" y="4021"/>
                  <a:pt x="10553" y="4021"/>
                </a:cubicBezTo>
                <a:lnTo>
                  <a:pt x="149" y="4021"/>
                </a:lnTo>
                <a:cubicBezTo>
                  <a:pt x="68" y="4021"/>
                  <a:pt x="0" y="3965"/>
                  <a:pt x="0" y="3897"/>
                </a:cubicBezTo>
                <a:lnTo>
                  <a:pt x="0" y="125"/>
                </a:lnTo>
                <a:cubicBezTo>
                  <a:pt x="0" y="57"/>
                  <a:pt x="68" y="0"/>
                  <a:pt x="149" y="0"/>
                </a:cubicBezTo>
                <a:lnTo>
                  <a:pt x="10553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847800" y="4001760"/>
            <a:ext cx="8383680" cy="557640"/>
          </a:xfrm>
          <a:custGeom>
            <a:avLst/>
            <a:gdLst/>
            <a:ahLst/>
            <a:rect l="0" t="0" r="r" b="b"/>
            <a:pathLst>
              <a:path w="23288" h="1549">
                <a:moveTo>
                  <a:pt x="23139" y="0"/>
                </a:moveTo>
                <a:cubicBezTo>
                  <a:pt x="23220" y="0"/>
                  <a:pt x="23288" y="57"/>
                  <a:pt x="23288" y="125"/>
                </a:cubicBezTo>
                <a:lnTo>
                  <a:pt x="23288" y="1424"/>
                </a:lnTo>
                <a:cubicBezTo>
                  <a:pt x="23288" y="1492"/>
                  <a:pt x="23220" y="1549"/>
                  <a:pt x="23139" y="1549"/>
                </a:cubicBezTo>
                <a:lnTo>
                  <a:pt x="150" y="1549"/>
                </a:lnTo>
                <a:cubicBezTo>
                  <a:pt x="68" y="1549"/>
                  <a:pt x="0" y="1492"/>
                  <a:pt x="0" y="1424"/>
                </a:cubicBezTo>
                <a:lnTo>
                  <a:pt x="0" y="125"/>
                </a:lnTo>
                <a:cubicBezTo>
                  <a:pt x="0" y="57"/>
                  <a:pt x="68" y="0"/>
                  <a:pt x="150" y="0"/>
                </a:cubicBezTo>
                <a:lnTo>
                  <a:pt x="23139" y="0"/>
                </a:ln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1055160" y="641880"/>
            <a:ext cx="7770960" cy="451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6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DASHBOARD 7 – TRAINING &amp; INTERNAL CAREER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1055160" y="1032120"/>
            <a:ext cx="1579680" cy="451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6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VELOCITY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1055160" y="1456920"/>
            <a:ext cx="5502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50" b="1" i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Evaluating training outcomes and internal workforce advancement paths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848160" y="2043000"/>
            <a:ext cx="42472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4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Building the Corporate Talent Pipeline From Within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1105920" y="2577960"/>
            <a:ext cx="22309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TRAINING ROI EVALUATIONS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1105920" y="2829240"/>
            <a:ext cx="30931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Dual-axis comparison visuals match internal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1105920" y="2994120"/>
            <a:ext cx="35089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course completion tracks directly against changes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1105920" y="3159360"/>
            <a:ext cx="33829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in year-end employee performance reviews. This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1105920" y="3324600"/>
            <a:ext cx="338616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tracking provides a data-backed tool to evaluate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1105920" y="3489480"/>
            <a:ext cx="24134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core corporate education budgets.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5636880" y="2577960"/>
            <a:ext cx="271368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0" u="none" strike="noStrike">
                <a:solidFill>
                  <a:srgbClr val="0F766E"/>
                </a:solidFill>
                <a:effectLst/>
                <a:uFillTx/>
                <a:latin typeface="Noto Sans"/>
                <a:ea typeface="Noto Sans"/>
              </a:rPr>
              <a:t>PROMOTION PROGRESSION PATHS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5636880" y="2829240"/>
            <a:ext cx="32803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Funnel view matrices chart internal movement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5636880" y="2994120"/>
            <a:ext cx="31896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timelines and track career changes across job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5636880" y="3159360"/>
            <a:ext cx="33462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levels. This display isolates advancement delays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5636880" y="3324600"/>
            <a:ext cx="32137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and helps leaders manage internal succession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5636880" y="3489480"/>
            <a:ext cx="67176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pipelines.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>
            <a:off x="847800" y="5418360"/>
            <a:ext cx="8383680" cy="15480"/>
          </a:xfrm>
          <a:custGeom>
            <a:avLst/>
            <a:gdLst/>
            <a:ahLst/>
            <a:rect l="0" t="0" r="r" b="b"/>
            <a:pathLst>
              <a:path w="23288" h="43">
                <a:moveTo>
                  <a:pt x="0" y="0"/>
                </a:moveTo>
                <a:lnTo>
                  <a:pt x="23288" y="0"/>
                </a:lnTo>
                <a:lnTo>
                  <a:pt x="23288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90000" tIns="-29520" rIns="90000" bIns="-295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1051920" y="4123080"/>
            <a:ext cx="80431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VALUE IMPACT STATEMENT: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 Improves overall workforce stability by replacing hidden career paths with transparent,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1051920" y="4288320"/>
            <a:ext cx="51948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metric-tracked growth opportunities that encourage long-term retention.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848160" y="5484240"/>
            <a:ext cx="1987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HR ANALYTICS DASHBOARD PROJECT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8789400" y="5484240"/>
            <a:ext cx="469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SLIDE 13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847800" y="623160"/>
            <a:ext cx="72720" cy="623520"/>
          </a:xfrm>
          <a:custGeom>
            <a:avLst/>
            <a:gdLst/>
            <a:ahLst/>
            <a:rect l="0" t="0" r="r" b="b"/>
            <a:pathLst>
              <a:path w="202" h="1732">
                <a:moveTo>
                  <a:pt x="0" y="0"/>
                </a:moveTo>
                <a:lnTo>
                  <a:pt x="202" y="0"/>
                </a:lnTo>
                <a:lnTo>
                  <a:pt x="202" y="1732"/>
                </a:lnTo>
                <a:lnTo>
                  <a:pt x="0" y="1732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1051560" y="1813320"/>
            <a:ext cx="2523600" cy="1665000"/>
          </a:xfrm>
          <a:custGeom>
            <a:avLst/>
            <a:gdLst/>
            <a:ahLst/>
            <a:rect l="0" t="0" r="r" b="b"/>
            <a:pathLst>
              <a:path w="7010" h="4625">
                <a:moveTo>
                  <a:pt x="6859" y="0"/>
                </a:moveTo>
                <a:cubicBezTo>
                  <a:pt x="6942" y="0"/>
                  <a:pt x="7010" y="56"/>
                  <a:pt x="7010" y="124"/>
                </a:cubicBezTo>
                <a:lnTo>
                  <a:pt x="7010" y="4500"/>
                </a:lnTo>
                <a:cubicBezTo>
                  <a:pt x="7010" y="4569"/>
                  <a:pt x="6942" y="4625"/>
                  <a:pt x="6859" y="4625"/>
                </a:cubicBezTo>
                <a:lnTo>
                  <a:pt x="150" y="4625"/>
                </a:lnTo>
                <a:cubicBezTo>
                  <a:pt x="68" y="4625"/>
                  <a:pt x="0" y="4569"/>
                  <a:pt x="0" y="4500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lnTo>
                  <a:pt x="685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3777840" y="1813320"/>
            <a:ext cx="2523600" cy="1665000"/>
          </a:xfrm>
          <a:custGeom>
            <a:avLst/>
            <a:gdLst/>
            <a:ahLst/>
            <a:rect l="0" t="0" r="r" b="b"/>
            <a:pathLst>
              <a:path w="7010" h="4625">
                <a:moveTo>
                  <a:pt x="6860" y="0"/>
                </a:moveTo>
                <a:cubicBezTo>
                  <a:pt x="6942" y="0"/>
                  <a:pt x="7010" y="56"/>
                  <a:pt x="7010" y="124"/>
                </a:cubicBezTo>
                <a:lnTo>
                  <a:pt x="7010" y="4500"/>
                </a:lnTo>
                <a:cubicBezTo>
                  <a:pt x="7010" y="4569"/>
                  <a:pt x="6942" y="4625"/>
                  <a:pt x="6860" y="4625"/>
                </a:cubicBezTo>
                <a:lnTo>
                  <a:pt x="153" y="4625"/>
                </a:lnTo>
                <a:cubicBezTo>
                  <a:pt x="69" y="4625"/>
                  <a:pt x="0" y="4569"/>
                  <a:pt x="0" y="4500"/>
                </a:cubicBezTo>
                <a:lnTo>
                  <a:pt x="0" y="124"/>
                </a:lnTo>
                <a:cubicBezTo>
                  <a:pt x="0" y="56"/>
                  <a:pt x="69" y="0"/>
                  <a:pt x="153" y="0"/>
                </a:cubicBezTo>
                <a:lnTo>
                  <a:pt x="686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6504480" y="1813320"/>
            <a:ext cx="2523600" cy="1665000"/>
          </a:xfrm>
          <a:custGeom>
            <a:avLst/>
            <a:gdLst/>
            <a:ahLst/>
            <a:rect l="0" t="0" r="r" b="b"/>
            <a:pathLst>
              <a:path w="7010" h="4625">
                <a:moveTo>
                  <a:pt x="6860" y="0"/>
                </a:moveTo>
                <a:cubicBezTo>
                  <a:pt x="6942" y="0"/>
                  <a:pt x="7010" y="56"/>
                  <a:pt x="7010" y="124"/>
                </a:cubicBezTo>
                <a:lnTo>
                  <a:pt x="7010" y="4500"/>
                </a:lnTo>
                <a:cubicBezTo>
                  <a:pt x="7010" y="4569"/>
                  <a:pt x="6942" y="4625"/>
                  <a:pt x="6860" y="4625"/>
                </a:cubicBezTo>
                <a:lnTo>
                  <a:pt x="150" y="4625"/>
                </a:lnTo>
                <a:cubicBezTo>
                  <a:pt x="68" y="4625"/>
                  <a:pt x="0" y="4569"/>
                  <a:pt x="0" y="4500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lnTo>
                  <a:pt x="686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1051560" y="3647880"/>
            <a:ext cx="2523600" cy="1665000"/>
          </a:xfrm>
          <a:custGeom>
            <a:avLst/>
            <a:gdLst/>
            <a:ahLst/>
            <a:rect l="0" t="0" r="r" b="b"/>
            <a:pathLst>
              <a:path w="7010" h="4625">
                <a:moveTo>
                  <a:pt x="6859" y="0"/>
                </a:moveTo>
                <a:cubicBezTo>
                  <a:pt x="6942" y="0"/>
                  <a:pt x="7010" y="56"/>
                  <a:pt x="7010" y="125"/>
                </a:cubicBezTo>
                <a:lnTo>
                  <a:pt x="7010" y="4501"/>
                </a:lnTo>
                <a:cubicBezTo>
                  <a:pt x="7010" y="4569"/>
                  <a:pt x="6942" y="4625"/>
                  <a:pt x="6859" y="4625"/>
                </a:cubicBezTo>
                <a:lnTo>
                  <a:pt x="150" y="4625"/>
                </a:lnTo>
                <a:cubicBezTo>
                  <a:pt x="68" y="4625"/>
                  <a:pt x="0" y="4569"/>
                  <a:pt x="0" y="4501"/>
                </a:cubicBezTo>
                <a:lnTo>
                  <a:pt x="0" y="125"/>
                </a:lnTo>
                <a:cubicBezTo>
                  <a:pt x="0" y="56"/>
                  <a:pt x="68" y="0"/>
                  <a:pt x="150" y="0"/>
                </a:cubicBezTo>
                <a:lnTo>
                  <a:pt x="685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3777840" y="3647880"/>
            <a:ext cx="2523600" cy="1665000"/>
          </a:xfrm>
          <a:custGeom>
            <a:avLst/>
            <a:gdLst/>
            <a:ahLst/>
            <a:rect l="0" t="0" r="r" b="b"/>
            <a:pathLst>
              <a:path w="7010" h="4625">
                <a:moveTo>
                  <a:pt x="6860" y="0"/>
                </a:moveTo>
                <a:cubicBezTo>
                  <a:pt x="6942" y="0"/>
                  <a:pt x="7010" y="56"/>
                  <a:pt x="7010" y="125"/>
                </a:cubicBezTo>
                <a:lnTo>
                  <a:pt x="7010" y="4501"/>
                </a:lnTo>
                <a:cubicBezTo>
                  <a:pt x="7010" y="4569"/>
                  <a:pt x="6942" y="4625"/>
                  <a:pt x="6860" y="4625"/>
                </a:cubicBezTo>
                <a:lnTo>
                  <a:pt x="153" y="4625"/>
                </a:lnTo>
                <a:cubicBezTo>
                  <a:pt x="69" y="4625"/>
                  <a:pt x="0" y="4569"/>
                  <a:pt x="0" y="4501"/>
                </a:cubicBezTo>
                <a:lnTo>
                  <a:pt x="0" y="125"/>
                </a:lnTo>
                <a:cubicBezTo>
                  <a:pt x="0" y="56"/>
                  <a:pt x="69" y="0"/>
                  <a:pt x="153" y="0"/>
                </a:cubicBezTo>
                <a:lnTo>
                  <a:pt x="686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6504480" y="3647880"/>
            <a:ext cx="2523600" cy="1665000"/>
          </a:xfrm>
          <a:custGeom>
            <a:avLst/>
            <a:gdLst/>
            <a:ahLst/>
            <a:rect l="0" t="0" r="r" b="b"/>
            <a:pathLst>
              <a:path w="7010" h="4625">
                <a:moveTo>
                  <a:pt x="6860" y="0"/>
                </a:moveTo>
                <a:cubicBezTo>
                  <a:pt x="6942" y="0"/>
                  <a:pt x="7010" y="56"/>
                  <a:pt x="7010" y="125"/>
                </a:cubicBezTo>
                <a:lnTo>
                  <a:pt x="7010" y="4501"/>
                </a:lnTo>
                <a:cubicBezTo>
                  <a:pt x="7010" y="4569"/>
                  <a:pt x="6942" y="4625"/>
                  <a:pt x="6860" y="4625"/>
                </a:cubicBezTo>
                <a:lnTo>
                  <a:pt x="150" y="4625"/>
                </a:lnTo>
                <a:cubicBezTo>
                  <a:pt x="68" y="4625"/>
                  <a:pt x="0" y="4569"/>
                  <a:pt x="0" y="4501"/>
                </a:cubicBezTo>
                <a:lnTo>
                  <a:pt x="0" y="125"/>
                </a:lnTo>
                <a:cubicBezTo>
                  <a:pt x="0" y="56"/>
                  <a:pt x="68" y="0"/>
                  <a:pt x="150" y="0"/>
                </a:cubicBezTo>
                <a:lnTo>
                  <a:pt x="686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1051560" y="1813320"/>
            <a:ext cx="2523600" cy="1665000"/>
          </a:xfrm>
          <a:custGeom>
            <a:avLst/>
            <a:gdLst/>
            <a:ahLst/>
            <a:rect l="0" t="0" r="r" b="b"/>
            <a:pathLst>
              <a:path w="7010" h="4625">
                <a:moveTo>
                  <a:pt x="150" y="41"/>
                </a:moveTo>
                <a:lnTo>
                  <a:pt x="6859" y="41"/>
                </a:lnTo>
                <a:cubicBezTo>
                  <a:pt x="6915" y="41"/>
                  <a:pt x="6959" y="79"/>
                  <a:pt x="6959" y="124"/>
                </a:cubicBezTo>
                <a:lnTo>
                  <a:pt x="6959" y="4500"/>
                </a:lnTo>
                <a:cubicBezTo>
                  <a:pt x="6959" y="4546"/>
                  <a:pt x="6915" y="4583"/>
                  <a:pt x="6859" y="4583"/>
                </a:cubicBezTo>
                <a:lnTo>
                  <a:pt x="150" y="4583"/>
                </a:lnTo>
                <a:cubicBezTo>
                  <a:pt x="95" y="4583"/>
                  <a:pt x="49" y="4546"/>
                  <a:pt x="49" y="4500"/>
                </a:cubicBezTo>
                <a:lnTo>
                  <a:pt x="49" y="124"/>
                </a:lnTo>
                <a:cubicBezTo>
                  <a:pt x="49" y="79"/>
                  <a:pt x="95" y="41"/>
                  <a:pt x="150" y="41"/>
                </a:cubicBezTo>
                <a:moveTo>
                  <a:pt x="150" y="0"/>
                </a:moveTo>
                <a:lnTo>
                  <a:pt x="6859" y="0"/>
                </a:lnTo>
                <a:cubicBezTo>
                  <a:pt x="6942" y="0"/>
                  <a:pt x="7010" y="56"/>
                  <a:pt x="7010" y="124"/>
                </a:cubicBezTo>
                <a:lnTo>
                  <a:pt x="7010" y="4500"/>
                </a:lnTo>
                <a:cubicBezTo>
                  <a:pt x="7010" y="4569"/>
                  <a:pt x="6942" y="4625"/>
                  <a:pt x="6859" y="4625"/>
                </a:cubicBezTo>
                <a:lnTo>
                  <a:pt x="150" y="4625"/>
                </a:lnTo>
                <a:cubicBezTo>
                  <a:pt x="68" y="4625"/>
                  <a:pt x="0" y="4569"/>
                  <a:pt x="0" y="4500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3777840" y="1813320"/>
            <a:ext cx="2523600" cy="1665000"/>
          </a:xfrm>
          <a:custGeom>
            <a:avLst/>
            <a:gdLst/>
            <a:ahLst/>
            <a:rect l="0" t="0" r="r" b="b"/>
            <a:pathLst>
              <a:path w="7010" h="4625">
                <a:moveTo>
                  <a:pt x="153" y="41"/>
                </a:moveTo>
                <a:lnTo>
                  <a:pt x="6860" y="41"/>
                </a:lnTo>
                <a:cubicBezTo>
                  <a:pt x="6915" y="41"/>
                  <a:pt x="6959" y="79"/>
                  <a:pt x="6959" y="124"/>
                </a:cubicBezTo>
                <a:lnTo>
                  <a:pt x="6959" y="4500"/>
                </a:lnTo>
                <a:cubicBezTo>
                  <a:pt x="6959" y="4546"/>
                  <a:pt x="6915" y="4583"/>
                  <a:pt x="6860" y="4583"/>
                </a:cubicBezTo>
                <a:lnTo>
                  <a:pt x="153" y="4583"/>
                </a:lnTo>
                <a:cubicBezTo>
                  <a:pt x="96" y="4583"/>
                  <a:pt x="53" y="4546"/>
                  <a:pt x="53" y="4500"/>
                </a:cubicBezTo>
                <a:lnTo>
                  <a:pt x="53" y="124"/>
                </a:lnTo>
                <a:cubicBezTo>
                  <a:pt x="53" y="79"/>
                  <a:pt x="96" y="41"/>
                  <a:pt x="153" y="41"/>
                </a:cubicBezTo>
                <a:moveTo>
                  <a:pt x="153" y="0"/>
                </a:moveTo>
                <a:lnTo>
                  <a:pt x="6860" y="0"/>
                </a:lnTo>
                <a:cubicBezTo>
                  <a:pt x="6942" y="0"/>
                  <a:pt x="7010" y="56"/>
                  <a:pt x="7010" y="124"/>
                </a:cubicBezTo>
                <a:lnTo>
                  <a:pt x="7010" y="4500"/>
                </a:lnTo>
                <a:cubicBezTo>
                  <a:pt x="7010" y="4569"/>
                  <a:pt x="6942" y="4625"/>
                  <a:pt x="6860" y="4625"/>
                </a:cubicBezTo>
                <a:lnTo>
                  <a:pt x="153" y="4625"/>
                </a:lnTo>
                <a:cubicBezTo>
                  <a:pt x="69" y="4625"/>
                  <a:pt x="0" y="4569"/>
                  <a:pt x="0" y="4500"/>
                </a:cubicBezTo>
                <a:lnTo>
                  <a:pt x="0" y="124"/>
                </a:lnTo>
                <a:cubicBezTo>
                  <a:pt x="0" y="56"/>
                  <a:pt x="69" y="0"/>
                  <a:pt x="153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6504480" y="1813320"/>
            <a:ext cx="2523600" cy="1665000"/>
          </a:xfrm>
          <a:custGeom>
            <a:avLst/>
            <a:gdLst/>
            <a:ahLst/>
            <a:rect l="0" t="0" r="r" b="b"/>
            <a:pathLst>
              <a:path w="7010" h="4625">
                <a:moveTo>
                  <a:pt x="150" y="41"/>
                </a:moveTo>
                <a:lnTo>
                  <a:pt x="6860" y="41"/>
                </a:lnTo>
                <a:cubicBezTo>
                  <a:pt x="6915" y="41"/>
                  <a:pt x="6961" y="79"/>
                  <a:pt x="6961" y="124"/>
                </a:cubicBezTo>
                <a:lnTo>
                  <a:pt x="6961" y="4500"/>
                </a:lnTo>
                <a:cubicBezTo>
                  <a:pt x="6961" y="4546"/>
                  <a:pt x="6915" y="4583"/>
                  <a:pt x="6860" y="4583"/>
                </a:cubicBezTo>
                <a:lnTo>
                  <a:pt x="150" y="4583"/>
                </a:lnTo>
                <a:cubicBezTo>
                  <a:pt x="95" y="4583"/>
                  <a:pt x="51" y="4546"/>
                  <a:pt x="51" y="4500"/>
                </a:cubicBezTo>
                <a:lnTo>
                  <a:pt x="51" y="124"/>
                </a:lnTo>
                <a:cubicBezTo>
                  <a:pt x="51" y="79"/>
                  <a:pt x="95" y="41"/>
                  <a:pt x="150" y="41"/>
                </a:cubicBezTo>
                <a:moveTo>
                  <a:pt x="150" y="0"/>
                </a:moveTo>
                <a:lnTo>
                  <a:pt x="6860" y="0"/>
                </a:lnTo>
                <a:cubicBezTo>
                  <a:pt x="6942" y="0"/>
                  <a:pt x="7010" y="56"/>
                  <a:pt x="7010" y="124"/>
                </a:cubicBezTo>
                <a:lnTo>
                  <a:pt x="7010" y="4500"/>
                </a:lnTo>
                <a:cubicBezTo>
                  <a:pt x="7010" y="4569"/>
                  <a:pt x="6942" y="4625"/>
                  <a:pt x="6860" y="4625"/>
                </a:cubicBezTo>
                <a:lnTo>
                  <a:pt x="150" y="4625"/>
                </a:lnTo>
                <a:cubicBezTo>
                  <a:pt x="68" y="4625"/>
                  <a:pt x="0" y="4569"/>
                  <a:pt x="0" y="4500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1051560" y="3647880"/>
            <a:ext cx="2523600" cy="1665000"/>
          </a:xfrm>
          <a:custGeom>
            <a:avLst/>
            <a:gdLst/>
            <a:ahLst/>
            <a:rect l="0" t="0" r="r" b="b"/>
            <a:pathLst>
              <a:path w="7010" h="4625">
                <a:moveTo>
                  <a:pt x="150" y="42"/>
                </a:moveTo>
                <a:lnTo>
                  <a:pt x="6859" y="42"/>
                </a:lnTo>
                <a:cubicBezTo>
                  <a:pt x="6915" y="42"/>
                  <a:pt x="6959" y="80"/>
                  <a:pt x="6959" y="125"/>
                </a:cubicBezTo>
                <a:lnTo>
                  <a:pt x="6959" y="4501"/>
                </a:lnTo>
                <a:cubicBezTo>
                  <a:pt x="6959" y="4546"/>
                  <a:pt x="6915" y="4584"/>
                  <a:pt x="6859" y="4584"/>
                </a:cubicBezTo>
                <a:lnTo>
                  <a:pt x="150" y="4584"/>
                </a:lnTo>
                <a:cubicBezTo>
                  <a:pt x="95" y="4584"/>
                  <a:pt x="49" y="4546"/>
                  <a:pt x="49" y="4501"/>
                </a:cubicBezTo>
                <a:lnTo>
                  <a:pt x="49" y="125"/>
                </a:lnTo>
                <a:cubicBezTo>
                  <a:pt x="49" y="80"/>
                  <a:pt x="95" y="42"/>
                  <a:pt x="150" y="42"/>
                </a:cubicBezTo>
                <a:moveTo>
                  <a:pt x="150" y="0"/>
                </a:moveTo>
                <a:lnTo>
                  <a:pt x="6859" y="0"/>
                </a:lnTo>
                <a:cubicBezTo>
                  <a:pt x="6942" y="0"/>
                  <a:pt x="7010" y="56"/>
                  <a:pt x="7010" y="125"/>
                </a:cubicBezTo>
                <a:lnTo>
                  <a:pt x="7010" y="4501"/>
                </a:lnTo>
                <a:cubicBezTo>
                  <a:pt x="7010" y="4569"/>
                  <a:pt x="6942" y="4625"/>
                  <a:pt x="6859" y="4625"/>
                </a:cubicBezTo>
                <a:lnTo>
                  <a:pt x="150" y="4625"/>
                </a:lnTo>
                <a:cubicBezTo>
                  <a:pt x="68" y="4625"/>
                  <a:pt x="0" y="4569"/>
                  <a:pt x="0" y="4501"/>
                </a:cubicBezTo>
                <a:lnTo>
                  <a:pt x="0" y="125"/>
                </a:lnTo>
                <a:cubicBezTo>
                  <a:pt x="0" y="56"/>
                  <a:pt x="68" y="0"/>
                  <a:pt x="150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3777840" y="3647880"/>
            <a:ext cx="2523600" cy="1665000"/>
          </a:xfrm>
          <a:custGeom>
            <a:avLst/>
            <a:gdLst/>
            <a:ahLst/>
            <a:rect l="0" t="0" r="r" b="b"/>
            <a:pathLst>
              <a:path w="7010" h="4625">
                <a:moveTo>
                  <a:pt x="153" y="42"/>
                </a:moveTo>
                <a:lnTo>
                  <a:pt x="6860" y="42"/>
                </a:lnTo>
                <a:cubicBezTo>
                  <a:pt x="6915" y="42"/>
                  <a:pt x="6959" y="80"/>
                  <a:pt x="6959" y="125"/>
                </a:cubicBezTo>
                <a:lnTo>
                  <a:pt x="6959" y="4501"/>
                </a:lnTo>
                <a:cubicBezTo>
                  <a:pt x="6959" y="4546"/>
                  <a:pt x="6915" y="4584"/>
                  <a:pt x="6860" y="4584"/>
                </a:cubicBezTo>
                <a:lnTo>
                  <a:pt x="153" y="4584"/>
                </a:lnTo>
                <a:cubicBezTo>
                  <a:pt x="96" y="4584"/>
                  <a:pt x="53" y="4546"/>
                  <a:pt x="53" y="4501"/>
                </a:cubicBezTo>
                <a:lnTo>
                  <a:pt x="53" y="125"/>
                </a:lnTo>
                <a:cubicBezTo>
                  <a:pt x="53" y="80"/>
                  <a:pt x="96" y="42"/>
                  <a:pt x="153" y="42"/>
                </a:cubicBezTo>
                <a:moveTo>
                  <a:pt x="153" y="0"/>
                </a:moveTo>
                <a:lnTo>
                  <a:pt x="6860" y="0"/>
                </a:lnTo>
                <a:cubicBezTo>
                  <a:pt x="6942" y="0"/>
                  <a:pt x="7010" y="56"/>
                  <a:pt x="7010" y="125"/>
                </a:cubicBezTo>
                <a:lnTo>
                  <a:pt x="7010" y="4501"/>
                </a:lnTo>
                <a:cubicBezTo>
                  <a:pt x="7010" y="4569"/>
                  <a:pt x="6942" y="4625"/>
                  <a:pt x="6860" y="4625"/>
                </a:cubicBezTo>
                <a:lnTo>
                  <a:pt x="153" y="4625"/>
                </a:lnTo>
                <a:cubicBezTo>
                  <a:pt x="69" y="4625"/>
                  <a:pt x="0" y="4569"/>
                  <a:pt x="0" y="4501"/>
                </a:cubicBezTo>
                <a:lnTo>
                  <a:pt x="0" y="125"/>
                </a:lnTo>
                <a:cubicBezTo>
                  <a:pt x="0" y="56"/>
                  <a:pt x="69" y="0"/>
                  <a:pt x="153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6504480" y="3647880"/>
            <a:ext cx="2523600" cy="1665000"/>
          </a:xfrm>
          <a:custGeom>
            <a:avLst/>
            <a:gdLst/>
            <a:ahLst/>
            <a:rect l="0" t="0" r="r" b="b"/>
            <a:pathLst>
              <a:path w="7010" h="4625">
                <a:moveTo>
                  <a:pt x="150" y="42"/>
                </a:moveTo>
                <a:lnTo>
                  <a:pt x="6860" y="42"/>
                </a:lnTo>
                <a:cubicBezTo>
                  <a:pt x="6915" y="42"/>
                  <a:pt x="6961" y="80"/>
                  <a:pt x="6961" y="125"/>
                </a:cubicBezTo>
                <a:lnTo>
                  <a:pt x="6961" y="4501"/>
                </a:lnTo>
                <a:cubicBezTo>
                  <a:pt x="6961" y="4546"/>
                  <a:pt x="6915" y="4584"/>
                  <a:pt x="6860" y="4584"/>
                </a:cubicBezTo>
                <a:lnTo>
                  <a:pt x="150" y="4584"/>
                </a:lnTo>
                <a:cubicBezTo>
                  <a:pt x="95" y="4584"/>
                  <a:pt x="51" y="4546"/>
                  <a:pt x="51" y="4501"/>
                </a:cubicBezTo>
                <a:lnTo>
                  <a:pt x="51" y="125"/>
                </a:lnTo>
                <a:cubicBezTo>
                  <a:pt x="51" y="80"/>
                  <a:pt x="95" y="42"/>
                  <a:pt x="150" y="42"/>
                </a:cubicBezTo>
                <a:moveTo>
                  <a:pt x="150" y="0"/>
                </a:moveTo>
                <a:lnTo>
                  <a:pt x="6860" y="0"/>
                </a:lnTo>
                <a:cubicBezTo>
                  <a:pt x="6942" y="0"/>
                  <a:pt x="7010" y="56"/>
                  <a:pt x="7010" y="125"/>
                </a:cubicBezTo>
                <a:lnTo>
                  <a:pt x="7010" y="4501"/>
                </a:lnTo>
                <a:cubicBezTo>
                  <a:pt x="7010" y="4569"/>
                  <a:pt x="6942" y="4625"/>
                  <a:pt x="6860" y="4625"/>
                </a:cubicBezTo>
                <a:lnTo>
                  <a:pt x="150" y="4625"/>
                </a:lnTo>
                <a:cubicBezTo>
                  <a:pt x="68" y="4625"/>
                  <a:pt x="0" y="4569"/>
                  <a:pt x="0" y="4501"/>
                </a:cubicBezTo>
                <a:lnTo>
                  <a:pt x="0" y="125"/>
                </a:lnTo>
                <a:cubicBezTo>
                  <a:pt x="0" y="56"/>
                  <a:pt x="68" y="0"/>
                  <a:pt x="150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1055160" y="641880"/>
            <a:ext cx="7313400" cy="451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6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KEY OPERATIONAL FINDINGS &amp; DISCOVERIES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1055160" y="1067040"/>
            <a:ext cx="6522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50" b="1" i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Workforce patterns and business insights surfaced through data relationship modeling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1239480" y="198180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01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1239480" y="2305440"/>
            <a:ext cx="20790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CONCENTRATED ATTRITION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1239480" y="2540160"/>
            <a:ext cx="1808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Turnover spikes are heavily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1239480" y="2697840"/>
            <a:ext cx="22237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clustered in specific high-demand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1239480" y="2855160"/>
            <a:ext cx="2066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departments rather than being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1239480" y="3012840"/>
            <a:ext cx="16297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evenly spread across the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1239480" y="3170520"/>
            <a:ext cx="638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company.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3966120" y="198180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02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3966120" y="2305440"/>
            <a:ext cx="1802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THE OVERTIME TRIGGER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3966120" y="2540160"/>
            <a:ext cx="1753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 direct mathematical link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3966120" y="2697840"/>
            <a:ext cx="1976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connects high overtime hours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3966120" y="2855160"/>
            <a:ext cx="1729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with immediate employee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3966120" y="3012840"/>
            <a:ext cx="15577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departures in key roles.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6692760" y="198180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03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6692760" y="2305440"/>
            <a:ext cx="1801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PREDICTIVE SENTIMENT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6692760" y="2540160"/>
            <a:ext cx="1923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Drops recorded in local </a:t>
            </a:r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office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6692760" y="2697840"/>
            <a:ext cx="2072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environment and survey scores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6692760" y="2855160"/>
            <a:ext cx="1834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serve as early indicators </a:t>
            </a:r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for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6692760" y="3012840"/>
            <a:ext cx="1710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potential turnover waves.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1239480" y="381636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04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1239480" y="4140000"/>
            <a:ext cx="2140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MEASURABLE TRAINING ROI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1239480" y="4374720"/>
            <a:ext cx="22518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Employees completing specialized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1239480" y="4532400"/>
            <a:ext cx="1845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technical training pathways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1239480" y="4690440"/>
            <a:ext cx="1822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achieve significantly higher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1239480" y="4847760"/>
            <a:ext cx="1700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performance evaluations.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3966120" y="381636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05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3966120" y="4140000"/>
            <a:ext cx="1725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MIDDLE-TIER PAY GAPS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3966120" y="4374720"/>
            <a:ext cx="1776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Salary tracking reveals pay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3966120" y="4532400"/>
            <a:ext cx="1939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compression within mid-level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3966120" y="4690440"/>
            <a:ext cx="1933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positions, identifying priority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3966120" y="4847760"/>
            <a:ext cx="17737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brackets that need market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3966120" y="5005440"/>
            <a:ext cx="8697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adjustments.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6692760" y="3816360"/>
            <a:ext cx="262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06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6692760" y="4140000"/>
            <a:ext cx="1641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DIVERSITY DYNAMICS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6692760" y="4374720"/>
            <a:ext cx="1810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Project groups with diverse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6692760" y="4532400"/>
            <a:ext cx="1906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representation metrics show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847800" y="5418360"/>
            <a:ext cx="8383680" cy="15480"/>
          </a:xfrm>
          <a:custGeom>
            <a:avLst/>
            <a:gdLst/>
            <a:ahLst/>
            <a:rect l="0" t="0" r="r" b="b"/>
            <a:pathLst>
              <a:path w="23288" h="43">
                <a:moveTo>
                  <a:pt x="0" y="0"/>
                </a:moveTo>
                <a:lnTo>
                  <a:pt x="23288" y="0"/>
                </a:lnTo>
                <a:lnTo>
                  <a:pt x="23288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90000" tIns="-29520" rIns="90000" bIns="-295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6692760" y="4690440"/>
            <a:ext cx="1976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higher local workplace survey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6692760" y="4847760"/>
            <a:ext cx="1336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engagement scores.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848160" y="5484240"/>
            <a:ext cx="1987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HR ANALYTICS DASHBOARD PROJECT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8789400" y="5484240"/>
            <a:ext cx="469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SLIDE 14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847800" y="623160"/>
            <a:ext cx="72720" cy="623520"/>
          </a:xfrm>
          <a:custGeom>
            <a:avLst/>
            <a:gdLst/>
            <a:ahLst/>
            <a:rect l="0" t="0" r="r" b="b"/>
            <a:pathLst>
              <a:path w="202" h="1732">
                <a:moveTo>
                  <a:pt x="0" y="0"/>
                </a:moveTo>
                <a:lnTo>
                  <a:pt x="202" y="0"/>
                </a:lnTo>
                <a:lnTo>
                  <a:pt x="202" y="1732"/>
                </a:lnTo>
                <a:lnTo>
                  <a:pt x="0" y="1732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847800" y="1643040"/>
            <a:ext cx="8383680" cy="630360"/>
          </a:xfrm>
          <a:custGeom>
            <a:avLst/>
            <a:gdLst/>
            <a:ahLst/>
            <a:rect l="0" t="0" r="r" b="b"/>
            <a:pathLst>
              <a:path w="23288" h="1751">
                <a:moveTo>
                  <a:pt x="23139" y="0"/>
                </a:moveTo>
                <a:cubicBezTo>
                  <a:pt x="23220" y="0"/>
                  <a:pt x="23288" y="56"/>
                  <a:pt x="23288" y="124"/>
                </a:cubicBezTo>
                <a:lnTo>
                  <a:pt x="23288" y="1627"/>
                </a:lnTo>
                <a:cubicBezTo>
                  <a:pt x="23288" y="1696"/>
                  <a:pt x="23220" y="1751"/>
                  <a:pt x="23139" y="1751"/>
                </a:cubicBezTo>
                <a:lnTo>
                  <a:pt x="150" y="1751"/>
                </a:lnTo>
                <a:cubicBezTo>
                  <a:pt x="68" y="1751"/>
                  <a:pt x="0" y="1696"/>
                  <a:pt x="0" y="1627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lnTo>
                  <a:pt x="23139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847800" y="1643040"/>
            <a:ext cx="8383680" cy="630360"/>
          </a:xfrm>
          <a:custGeom>
            <a:avLst/>
            <a:gdLst/>
            <a:ahLst/>
            <a:rect l="0" t="0" r="r" b="b"/>
            <a:pathLst>
              <a:path w="23288" h="1751">
                <a:moveTo>
                  <a:pt x="150" y="41"/>
                </a:moveTo>
                <a:lnTo>
                  <a:pt x="23139" y="41"/>
                </a:lnTo>
                <a:cubicBezTo>
                  <a:pt x="23194" y="41"/>
                  <a:pt x="23239" y="79"/>
                  <a:pt x="23239" y="124"/>
                </a:cubicBezTo>
                <a:lnTo>
                  <a:pt x="23239" y="1627"/>
                </a:lnTo>
                <a:cubicBezTo>
                  <a:pt x="23239" y="1673"/>
                  <a:pt x="23194" y="1711"/>
                  <a:pt x="23139" y="1711"/>
                </a:cubicBezTo>
                <a:lnTo>
                  <a:pt x="150" y="1711"/>
                </a:lnTo>
                <a:cubicBezTo>
                  <a:pt x="95" y="1711"/>
                  <a:pt x="49" y="1673"/>
                  <a:pt x="49" y="1627"/>
                </a:cubicBezTo>
                <a:lnTo>
                  <a:pt x="49" y="124"/>
                </a:lnTo>
                <a:cubicBezTo>
                  <a:pt x="49" y="79"/>
                  <a:pt x="95" y="41"/>
                  <a:pt x="150" y="41"/>
                </a:cubicBezTo>
                <a:moveTo>
                  <a:pt x="150" y="0"/>
                </a:moveTo>
                <a:lnTo>
                  <a:pt x="23139" y="0"/>
                </a:lnTo>
                <a:cubicBezTo>
                  <a:pt x="23220" y="0"/>
                  <a:pt x="23288" y="56"/>
                  <a:pt x="23288" y="124"/>
                </a:cubicBezTo>
                <a:lnTo>
                  <a:pt x="23288" y="1627"/>
                </a:lnTo>
                <a:cubicBezTo>
                  <a:pt x="23288" y="1696"/>
                  <a:pt x="23220" y="1751"/>
                  <a:pt x="23139" y="1751"/>
                </a:cubicBezTo>
                <a:lnTo>
                  <a:pt x="150" y="1751"/>
                </a:lnTo>
                <a:cubicBezTo>
                  <a:pt x="68" y="1751"/>
                  <a:pt x="0" y="1696"/>
                  <a:pt x="0" y="1627"/>
                </a:cubicBezTo>
                <a:lnTo>
                  <a:pt x="0" y="124"/>
                </a:lnTo>
                <a:cubicBezTo>
                  <a:pt x="0" y="56"/>
                  <a:pt x="68" y="0"/>
                  <a:pt x="150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847800" y="2386440"/>
            <a:ext cx="8383680" cy="630720"/>
          </a:xfrm>
          <a:custGeom>
            <a:avLst/>
            <a:gdLst/>
            <a:ahLst/>
            <a:rect l="0" t="0" r="r" b="b"/>
            <a:pathLst>
              <a:path w="23288" h="1752">
                <a:moveTo>
                  <a:pt x="23139" y="0"/>
                </a:moveTo>
                <a:cubicBezTo>
                  <a:pt x="23220" y="0"/>
                  <a:pt x="23288" y="57"/>
                  <a:pt x="23288" y="125"/>
                </a:cubicBezTo>
                <a:lnTo>
                  <a:pt x="23288" y="1628"/>
                </a:lnTo>
                <a:cubicBezTo>
                  <a:pt x="23288" y="1696"/>
                  <a:pt x="23220" y="1752"/>
                  <a:pt x="23139" y="1752"/>
                </a:cubicBezTo>
                <a:lnTo>
                  <a:pt x="150" y="1752"/>
                </a:lnTo>
                <a:cubicBezTo>
                  <a:pt x="68" y="1752"/>
                  <a:pt x="0" y="1696"/>
                  <a:pt x="0" y="1628"/>
                </a:cubicBezTo>
                <a:lnTo>
                  <a:pt x="0" y="125"/>
                </a:lnTo>
                <a:cubicBezTo>
                  <a:pt x="0" y="57"/>
                  <a:pt x="68" y="0"/>
                  <a:pt x="150" y="0"/>
                </a:cubicBezTo>
                <a:lnTo>
                  <a:pt x="23139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847800" y="2386440"/>
            <a:ext cx="8383680" cy="630720"/>
          </a:xfrm>
          <a:custGeom>
            <a:avLst/>
            <a:gdLst/>
            <a:ahLst/>
            <a:rect l="0" t="0" r="r" b="b"/>
            <a:pathLst>
              <a:path w="23288" h="1752">
                <a:moveTo>
                  <a:pt x="150" y="42"/>
                </a:moveTo>
                <a:lnTo>
                  <a:pt x="23139" y="42"/>
                </a:lnTo>
                <a:cubicBezTo>
                  <a:pt x="23194" y="42"/>
                  <a:pt x="23239" y="80"/>
                  <a:pt x="23239" y="125"/>
                </a:cubicBezTo>
                <a:lnTo>
                  <a:pt x="23239" y="1628"/>
                </a:lnTo>
                <a:cubicBezTo>
                  <a:pt x="23239" y="1674"/>
                  <a:pt x="23194" y="1711"/>
                  <a:pt x="23139" y="1711"/>
                </a:cubicBezTo>
                <a:lnTo>
                  <a:pt x="150" y="1711"/>
                </a:lnTo>
                <a:cubicBezTo>
                  <a:pt x="95" y="1711"/>
                  <a:pt x="49" y="1674"/>
                  <a:pt x="49" y="1628"/>
                </a:cubicBezTo>
                <a:lnTo>
                  <a:pt x="49" y="125"/>
                </a:lnTo>
                <a:cubicBezTo>
                  <a:pt x="49" y="80"/>
                  <a:pt x="95" y="42"/>
                  <a:pt x="150" y="42"/>
                </a:cubicBezTo>
                <a:moveTo>
                  <a:pt x="150" y="0"/>
                </a:moveTo>
                <a:lnTo>
                  <a:pt x="23139" y="0"/>
                </a:lnTo>
                <a:cubicBezTo>
                  <a:pt x="23220" y="0"/>
                  <a:pt x="23288" y="57"/>
                  <a:pt x="23288" y="125"/>
                </a:cubicBezTo>
                <a:lnTo>
                  <a:pt x="23288" y="1628"/>
                </a:lnTo>
                <a:cubicBezTo>
                  <a:pt x="23288" y="1696"/>
                  <a:pt x="23220" y="1752"/>
                  <a:pt x="23139" y="1752"/>
                </a:cubicBezTo>
                <a:lnTo>
                  <a:pt x="150" y="1752"/>
                </a:lnTo>
                <a:cubicBezTo>
                  <a:pt x="68" y="1752"/>
                  <a:pt x="0" y="1696"/>
                  <a:pt x="0" y="1628"/>
                </a:cubicBezTo>
                <a:lnTo>
                  <a:pt x="0" y="125"/>
                </a:lnTo>
                <a:cubicBezTo>
                  <a:pt x="0" y="57"/>
                  <a:pt x="68" y="0"/>
                  <a:pt x="150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847800" y="3130200"/>
            <a:ext cx="8383680" cy="630720"/>
          </a:xfrm>
          <a:custGeom>
            <a:avLst/>
            <a:gdLst/>
            <a:ahLst/>
            <a:rect l="0" t="0" r="r" b="b"/>
            <a:pathLst>
              <a:path w="23288" h="1752">
                <a:moveTo>
                  <a:pt x="23139" y="0"/>
                </a:moveTo>
                <a:cubicBezTo>
                  <a:pt x="23220" y="0"/>
                  <a:pt x="23288" y="57"/>
                  <a:pt x="23288" y="125"/>
                </a:cubicBezTo>
                <a:lnTo>
                  <a:pt x="23288" y="1628"/>
                </a:lnTo>
                <a:cubicBezTo>
                  <a:pt x="23288" y="1696"/>
                  <a:pt x="23220" y="1752"/>
                  <a:pt x="23139" y="1752"/>
                </a:cubicBezTo>
                <a:lnTo>
                  <a:pt x="150" y="1752"/>
                </a:lnTo>
                <a:cubicBezTo>
                  <a:pt x="68" y="1752"/>
                  <a:pt x="0" y="1696"/>
                  <a:pt x="0" y="1628"/>
                </a:cubicBezTo>
                <a:lnTo>
                  <a:pt x="0" y="125"/>
                </a:lnTo>
                <a:cubicBezTo>
                  <a:pt x="0" y="57"/>
                  <a:pt x="68" y="0"/>
                  <a:pt x="150" y="0"/>
                </a:cubicBezTo>
                <a:lnTo>
                  <a:pt x="23139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847800" y="3130200"/>
            <a:ext cx="8383680" cy="630720"/>
          </a:xfrm>
          <a:custGeom>
            <a:avLst/>
            <a:gdLst/>
            <a:ahLst/>
            <a:rect l="0" t="0" r="r" b="b"/>
            <a:pathLst>
              <a:path w="23288" h="1752">
                <a:moveTo>
                  <a:pt x="150" y="42"/>
                </a:moveTo>
                <a:lnTo>
                  <a:pt x="23139" y="42"/>
                </a:lnTo>
                <a:cubicBezTo>
                  <a:pt x="23194" y="42"/>
                  <a:pt x="23239" y="80"/>
                  <a:pt x="23239" y="125"/>
                </a:cubicBezTo>
                <a:lnTo>
                  <a:pt x="23239" y="1628"/>
                </a:lnTo>
                <a:cubicBezTo>
                  <a:pt x="23239" y="1674"/>
                  <a:pt x="23194" y="1711"/>
                  <a:pt x="23139" y="1711"/>
                </a:cubicBezTo>
                <a:lnTo>
                  <a:pt x="150" y="1711"/>
                </a:lnTo>
                <a:cubicBezTo>
                  <a:pt x="95" y="1711"/>
                  <a:pt x="49" y="1674"/>
                  <a:pt x="49" y="1628"/>
                </a:cubicBezTo>
                <a:lnTo>
                  <a:pt x="49" y="125"/>
                </a:lnTo>
                <a:cubicBezTo>
                  <a:pt x="49" y="80"/>
                  <a:pt x="95" y="42"/>
                  <a:pt x="150" y="42"/>
                </a:cubicBezTo>
                <a:moveTo>
                  <a:pt x="150" y="0"/>
                </a:moveTo>
                <a:lnTo>
                  <a:pt x="23139" y="0"/>
                </a:lnTo>
                <a:cubicBezTo>
                  <a:pt x="23220" y="0"/>
                  <a:pt x="23288" y="57"/>
                  <a:pt x="23288" y="125"/>
                </a:cubicBezTo>
                <a:lnTo>
                  <a:pt x="23288" y="1628"/>
                </a:lnTo>
                <a:cubicBezTo>
                  <a:pt x="23288" y="1696"/>
                  <a:pt x="23220" y="1752"/>
                  <a:pt x="23139" y="1752"/>
                </a:cubicBezTo>
                <a:lnTo>
                  <a:pt x="150" y="1752"/>
                </a:lnTo>
                <a:cubicBezTo>
                  <a:pt x="68" y="1752"/>
                  <a:pt x="0" y="1696"/>
                  <a:pt x="0" y="1628"/>
                </a:cubicBezTo>
                <a:lnTo>
                  <a:pt x="0" y="125"/>
                </a:lnTo>
                <a:cubicBezTo>
                  <a:pt x="0" y="57"/>
                  <a:pt x="68" y="0"/>
                  <a:pt x="150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847800" y="3873600"/>
            <a:ext cx="8383680" cy="630720"/>
          </a:xfrm>
          <a:custGeom>
            <a:avLst/>
            <a:gdLst/>
            <a:ahLst/>
            <a:rect l="0" t="0" r="r" b="b"/>
            <a:pathLst>
              <a:path w="23288" h="1752">
                <a:moveTo>
                  <a:pt x="23139" y="0"/>
                </a:moveTo>
                <a:cubicBezTo>
                  <a:pt x="23220" y="0"/>
                  <a:pt x="23288" y="57"/>
                  <a:pt x="23288" y="125"/>
                </a:cubicBezTo>
                <a:lnTo>
                  <a:pt x="23288" y="1627"/>
                </a:lnTo>
                <a:cubicBezTo>
                  <a:pt x="23288" y="1696"/>
                  <a:pt x="23220" y="1752"/>
                  <a:pt x="23139" y="1752"/>
                </a:cubicBezTo>
                <a:lnTo>
                  <a:pt x="150" y="1752"/>
                </a:lnTo>
                <a:cubicBezTo>
                  <a:pt x="68" y="1752"/>
                  <a:pt x="0" y="1696"/>
                  <a:pt x="0" y="1627"/>
                </a:cubicBezTo>
                <a:lnTo>
                  <a:pt x="0" y="125"/>
                </a:lnTo>
                <a:cubicBezTo>
                  <a:pt x="0" y="57"/>
                  <a:pt x="68" y="0"/>
                  <a:pt x="150" y="0"/>
                </a:cubicBezTo>
                <a:lnTo>
                  <a:pt x="23139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847800" y="3873600"/>
            <a:ext cx="8383680" cy="630720"/>
          </a:xfrm>
          <a:custGeom>
            <a:avLst/>
            <a:gdLst/>
            <a:ahLst/>
            <a:rect l="0" t="0" r="r" b="b"/>
            <a:pathLst>
              <a:path w="23288" h="1752">
                <a:moveTo>
                  <a:pt x="150" y="42"/>
                </a:moveTo>
                <a:lnTo>
                  <a:pt x="23139" y="42"/>
                </a:lnTo>
                <a:cubicBezTo>
                  <a:pt x="23194" y="42"/>
                  <a:pt x="23239" y="80"/>
                  <a:pt x="23239" y="125"/>
                </a:cubicBezTo>
                <a:lnTo>
                  <a:pt x="23239" y="1627"/>
                </a:lnTo>
                <a:cubicBezTo>
                  <a:pt x="23239" y="1674"/>
                  <a:pt x="23194" y="1711"/>
                  <a:pt x="23139" y="1711"/>
                </a:cubicBezTo>
                <a:lnTo>
                  <a:pt x="150" y="1711"/>
                </a:lnTo>
                <a:cubicBezTo>
                  <a:pt x="95" y="1711"/>
                  <a:pt x="49" y="1674"/>
                  <a:pt x="49" y="1627"/>
                </a:cubicBezTo>
                <a:lnTo>
                  <a:pt x="49" y="125"/>
                </a:lnTo>
                <a:cubicBezTo>
                  <a:pt x="49" y="80"/>
                  <a:pt x="95" y="42"/>
                  <a:pt x="150" y="42"/>
                </a:cubicBezTo>
                <a:moveTo>
                  <a:pt x="150" y="0"/>
                </a:moveTo>
                <a:lnTo>
                  <a:pt x="23139" y="0"/>
                </a:lnTo>
                <a:cubicBezTo>
                  <a:pt x="23220" y="0"/>
                  <a:pt x="23288" y="57"/>
                  <a:pt x="23288" y="125"/>
                </a:cubicBezTo>
                <a:lnTo>
                  <a:pt x="23288" y="1627"/>
                </a:lnTo>
                <a:cubicBezTo>
                  <a:pt x="23288" y="1696"/>
                  <a:pt x="23220" y="1752"/>
                  <a:pt x="23139" y="1752"/>
                </a:cubicBezTo>
                <a:lnTo>
                  <a:pt x="150" y="1752"/>
                </a:lnTo>
                <a:cubicBezTo>
                  <a:pt x="68" y="1752"/>
                  <a:pt x="0" y="1696"/>
                  <a:pt x="0" y="1627"/>
                </a:cubicBezTo>
                <a:lnTo>
                  <a:pt x="0" y="125"/>
                </a:lnTo>
                <a:cubicBezTo>
                  <a:pt x="0" y="57"/>
                  <a:pt x="68" y="0"/>
                  <a:pt x="150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847800" y="4617360"/>
            <a:ext cx="8383680" cy="630720"/>
          </a:xfrm>
          <a:custGeom>
            <a:avLst/>
            <a:gdLst/>
            <a:ahLst/>
            <a:rect l="0" t="0" r="r" b="b"/>
            <a:pathLst>
              <a:path w="23288" h="1752">
                <a:moveTo>
                  <a:pt x="23139" y="0"/>
                </a:moveTo>
                <a:cubicBezTo>
                  <a:pt x="23220" y="0"/>
                  <a:pt x="23288" y="57"/>
                  <a:pt x="23288" y="125"/>
                </a:cubicBezTo>
                <a:lnTo>
                  <a:pt x="23288" y="1627"/>
                </a:lnTo>
                <a:cubicBezTo>
                  <a:pt x="23288" y="1696"/>
                  <a:pt x="23220" y="1752"/>
                  <a:pt x="23139" y="1752"/>
                </a:cubicBezTo>
                <a:lnTo>
                  <a:pt x="150" y="1752"/>
                </a:lnTo>
                <a:cubicBezTo>
                  <a:pt x="68" y="1752"/>
                  <a:pt x="0" y="1696"/>
                  <a:pt x="0" y="1627"/>
                </a:cubicBezTo>
                <a:lnTo>
                  <a:pt x="0" y="125"/>
                </a:lnTo>
                <a:cubicBezTo>
                  <a:pt x="0" y="57"/>
                  <a:pt x="68" y="0"/>
                  <a:pt x="150" y="0"/>
                </a:cubicBezTo>
                <a:lnTo>
                  <a:pt x="23139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847800" y="4617360"/>
            <a:ext cx="8383680" cy="630720"/>
          </a:xfrm>
          <a:custGeom>
            <a:avLst/>
            <a:gdLst/>
            <a:ahLst/>
            <a:rect l="0" t="0" r="r" b="b"/>
            <a:pathLst>
              <a:path w="23288" h="1752">
                <a:moveTo>
                  <a:pt x="150" y="42"/>
                </a:moveTo>
                <a:lnTo>
                  <a:pt x="23139" y="42"/>
                </a:lnTo>
                <a:cubicBezTo>
                  <a:pt x="23194" y="42"/>
                  <a:pt x="23239" y="80"/>
                  <a:pt x="23239" y="125"/>
                </a:cubicBezTo>
                <a:lnTo>
                  <a:pt x="23239" y="1627"/>
                </a:lnTo>
                <a:cubicBezTo>
                  <a:pt x="23239" y="1674"/>
                  <a:pt x="23194" y="1711"/>
                  <a:pt x="23139" y="1711"/>
                </a:cubicBezTo>
                <a:lnTo>
                  <a:pt x="150" y="1711"/>
                </a:lnTo>
                <a:cubicBezTo>
                  <a:pt x="95" y="1711"/>
                  <a:pt x="49" y="1674"/>
                  <a:pt x="49" y="1627"/>
                </a:cubicBezTo>
                <a:lnTo>
                  <a:pt x="49" y="125"/>
                </a:lnTo>
                <a:cubicBezTo>
                  <a:pt x="49" y="80"/>
                  <a:pt x="95" y="42"/>
                  <a:pt x="150" y="42"/>
                </a:cubicBezTo>
                <a:moveTo>
                  <a:pt x="150" y="0"/>
                </a:moveTo>
                <a:lnTo>
                  <a:pt x="23139" y="0"/>
                </a:lnTo>
                <a:cubicBezTo>
                  <a:pt x="23220" y="0"/>
                  <a:pt x="23288" y="57"/>
                  <a:pt x="23288" y="125"/>
                </a:cubicBezTo>
                <a:lnTo>
                  <a:pt x="23288" y="1627"/>
                </a:lnTo>
                <a:cubicBezTo>
                  <a:pt x="23288" y="1696"/>
                  <a:pt x="23220" y="1752"/>
                  <a:pt x="23139" y="1752"/>
                </a:cubicBezTo>
                <a:lnTo>
                  <a:pt x="150" y="1752"/>
                </a:lnTo>
                <a:cubicBezTo>
                  <a:pt x="68" y="1752"/>
                  <a:pt x="0" y="1696"/>
                  <a:pt x="0" y="1627"/>
                </a:cubicBezTo>
                <a:lnTo>
                  <a:pt x="0" y="125"/>
                </a:lnTo>
                <a:cubicBezTo>
                  <a:pt x="0" y="57"/>
                  <a:pt x="68" y="0"/>
                  <a:pt x="150" y="0"/>
                </a:cubicBez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1018440" y="1847880"/>
            <a:ext cx="792720" cy="220680"/>
          </a:xfrm>
          <a:custGeom>
            <a:avLst/>
            <a:gdLst/>
            <a:ahLst/>
            <a:rect l="0" t="0" r="r" b="b"/>
            <a:pathLst>
              <a:path w="2202" h="613">
                <a:moveTo>
                  <a:pt x="2102" y="0"/>
                </a:moveTo>
                <a:cubicBezTo>
                  <a:pt x="2157" y="0"/>
                  <a:pt x="2202" y="38"/>
                  <a:pt x="2202" y="85"/>
                </a:cubicBezTo>
                <a:lnTo>
                  <a:pt x="2202" y="529"/>
                </a:lnTo>
                <a:cubicBezTo>
                  <a:pt x="2202" y="575"/>
                  <a:pt x="2157" y="613"/>
                  <a:pt x="2102" y="613"/>
                </a:cubicBezTo>
                <a:lnTo>
                  <a:pt x="101" y="613"/>
                </a:lnTo>
                <a:cubicBezTo>
                  <a:pt x="46" y="613"/>
                  <a:pt x="0" y="575"/>
                  <a:pt x="0" y="529"/>
                </a:cubicBezTo>
                <a:lnTo>
                  <a:pt x="0" y="85"/>
                </a:lnTo>
                <a:cubicBezTo>
                  <a:pt x="0" y="38"/>
                  <a:pt x="46" y="0"/>
                  <a:pt x="101" y="0"/>
                </a:cubicBezTo>
                <a:lnTo>
                  <a:pt x="2102" y="0"/>
                </a:lnTo>
                <a:close/>
              </a:path>
            </a:pathLst>
          </a:custGeom>
          <a:solidFill>
            <a:srgbClr val="B91C1C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1055160" y="641880"/>
            <a:ext cx="7448760" cy="451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6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ACTIONABLE STRATEGIC RECOMMENDATIONS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1055160" y="1067040"/>
            <a:ext cx="6428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50" b="1" i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Data-supported initiatives to optimize enterprise retention and compensation growth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1120680" y="1896480"/>
            <a:ext cx="6246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IMMEDIATE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1018440" y="2591640"/>
            <a:ext cx="792720" cy="220680"/>
          </a:xfrm>
          <a:custGeom>
            <a:avLst/>
            <a:gdLst/>
            <a:ahLst/>
            <a:rect l="0" t="0" r="r" b="b"/>
            <a:pathLst>
              <a:path w="2202" h="613">
                <a:moveTo>
                  <a:pt x="2102" y="0"/>
                </a:moveTo>
                <a:cubicBezTo>
                  <a:pt x="2157" y="0"/>
                  <a:pt x="2202" y="37"/>
                  <a:pt x="2202" y="83"/>
                </a:cubicBezTo>
                <a:lnTo>
                  <a:pt x="2202" y="529"/>
                </a:lnTo>
                <a:cubicBezTo>
                  <a:pt x="2202" y="575"/>
                  <a:pt x="2157" y="613"/>
                  <a:pt x="2102" y="613"/>
                </a:cubicBezTo>
                <a:lnTo>
                  <a:pt x="101" y="613"/>
                </a:lnTo>
                <a:cubicBezTo>
                  <a:pt x="46" y="613"/>
                  <a:pt x="0" y="575"/>
                  <a:pt x="0" y="529"/>
                </a:cubicBezTo>
                <a:lnTo>
                  <a:pt x="0" y="83"/>
                </a:lnTo>
                <a:cubicBezTo>
                  <a:pt x="0" y="37"/>
                  <a:pt x="46" y="0"/>
                  <a:pt x="101" y="0"/>
                </a:cubicBezTo>
                <a:lnTo>
                  <a:pt x="2102" y="0"/>
                </a:lnTo>
                <a:close/>
              </a:path>
            </a:pathLst>
          </a:custGeom>
          <a:solidFill>
            <a:srgbClr val="B91C1C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1982520" y="1794240"/>
            <a:ext cx="6521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Deploy Proactive Engagement Programs: Target volatile departments showing low survey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1982520" y="1966680"/>
            <a:ext cx="5702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feedback scores with localized retention programs before seasonal exit peaks.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1120680" y="2640240"/>
            <a:ext cx="6246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IMMEDIATE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1018440" y="3335400"/>
            <a:ext cx="966240" cy="220680"/>
          </a:xfrm>
          <a:custGeom>
            <a:avLst/>
            <a:gdLst/>
            <a:ahLst/>
            <a:rect l="0" t="0" r="r" b="b"/>
            <a:pathLst>
              <a:path w="2684" h="613">
                <a:moveTo>
                  <a:pt x="2586" y="0"/>
                </a:moveTo>
                <a:cubicBezTo>
                  <a:pt x="2641" y="0"/>
                  <a:pt x="2684" y="37"/>
                  <a:pt x="2684" y="83"/>
                </a:cubicBezTo>
                <a:lnTo>
                  <a:pt x="2684" y="529"/>
                </a:lnTo>
                <a:cubicBezTo>
                  <a:pt x="2684" y="575"/>
                  <a:pt x="2641" y="613"/>
                  <a:pt x="2586" y="613"/>
                </a:cubicBezTo>
                <a:lnTo>
                  <a:pt x="101" y="613"/>
                </a:lnTo>
                <a:cubicBezTo>
                  <a:pt x="46" y="613"/>
                  <a:pt x="0" y="575"/>
                  <a:pt x="0" y="529"/>
                </a:cubicBezTo>
                <a:lnTo>
                  <a:pt x="0" y="83"/>
                </a:lnTo>
                <a:cubicBezTo>
                  <a:pt x="0" y="37"/>
                  <a:pt x="46" y="0"/>
                  <a:pt x="101" y="0"/>
                </a:cubicBezTo>
                <a:lnTo>
                  <a:pt x="2586" y="0"/>
                </a:ln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1982520" y="2538000"/>
            <a:ext cx="6742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Balance Overtime Allocations: Review active staffing plans and project resource schedules in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1982520" y="2710080"/>
            <a:ext cx="3280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sectors showing continuous overtime spikes.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1120680" y="3384000"/>
            <a:ext cx="8089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MEDIUM TERM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1018440" y="4079160"/>
            <a:ext cx="966240" cy="220320"/>
          </a:xfrm>
          <a:custGeom>
            <a:avLst/>
            <a:gdLst/>
            <a:ahLst/>
            <a:rect l="0" t="0" r="r" b="b"/>
            <a:pathLst>
              <a:path w="2684" h="612">
                <a:moveTo>
                  <a:pt x="2586" y="0"/>
                </a:moveTo>
                <a:cubicBezTo>
                  <a:pt x="2641" y="0"/>
                  <a:pt x="2684" y="37"/>
                  <a:pt x="2684" y="82"/>
                </a:cubicBezTo>
                <a:lnTo>
                  <a:pt x="2684" y="527"/>
                </a:lnTo>
                <a:cubicBezTo>
                  <a:pt x="2684" y="573"/>
                  <a:pt x="2641" y="612"/>
                  <a:pt x="2586" y="612"/>
                </a:cubicBezTo>
                <a:lnTo>
                  <a:pt x="101" y="612"/>
                </a:lnTo>
                <a:cubicBezTo>
                  <a:pt x="46" y="612"/>
                  <a:pt x="0" y="573"/>
                  <a:pt x="0" y="527"/>
                </a:cubicBezTo>
                <a:lnTo>
                  <a:pt x="0" y="82"/>
                </a:lnTo>
                <a:cubicBezTo>
                  <a:pt x="0" y="37"/>
                  <a:pt x="46" y="0"/>
                  <a:pt x="101" y="0"/>
                </a:cubicBezTo>
                <a:lnTo>
                  <a:pt x="2586" y="0"/>
                </a:ln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2156040" y="3281400"/>
            <a:ext cx="6699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Align Compensation Frameworks: Use dashboard scatter charts to fix pay compression gaps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2156040" y="3453840"/>
            <a:ext cx="3322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and protect top-performing personnel assets.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1120680" y="4127400"/>
            <a:ext cx="8089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MEDIUM TERM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1018440" y="4822560"/>
            <a:ext cx="915840" cy="220680"/>
          </a:xfrm>
          <a:custGeom>
            <a:avLst/>
            <a:gdLst/>
            <a:ahLst/>
            <a:rect l="0" t="0" r="r" b="b"/>
            <a:pathLst>
              <a:path w="2544" h="613">
                <a:moveTo>
                  <a:pt x="2445" y="0"/>
                </a:moveTo>
                <a:cubicBezTo>
                  <a:pt x="2499" y="0"/>
                  <a:pt x="2544" y="37"/>
                  <a:pt x="2544" y="83"/>
                </a:cubicBezTo>
                <a:lnTo>
                  <a:pt x="2544" y="529"/>
                </a:lnTo>
                <a:cubicBezTo>
                  <a:pt x="2544" y="575"/>
                  <a:pt x="2499" y="613"/>
                  <a:pt x="2445" y="613"/>
                </a:cubicBezTo>
                <a:lnTo>
                  <a:pt x="101" y="613"/>
                </a:lnTo>
                <a:cubicBezTo>
                  <a:pt x="46" y="613"/>
                  <a:pt x="0" y="575"/>
                  <a:pt x="0" y="529"/>
                </a:cubicBezTo>
                <a:lnTo>
                  <a:pt x="0" y="83"/>
                </a:lnTo>
                <a:cubicBezTo>
                  <a:pt x="0" y="37"/>
                  <a:pt x="46" y="0"/>
                  <a:pt x="101" y="0"/>
                </a:cubicBezTo>
                <a:lnTo>
                  <a:pt x="2445" y="0"/>
                </a:lnTo>
                <a:close/>
              </a:path>
            </a:pathLst>
          </a:custGeom>
          <a:solidFill>
            <a:srgbClr val="47556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2156040" y="4025160"/>
            <a:ext cx="6248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Link Development to Progression: Build clear internal career promotion paths directly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2156040" y="4197600"/>
            <a:ext cx="3497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connected to technical skill training milestones.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1120680" y="4871160"/>
            <a:ext cx="7552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CONTINUOUS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847800" y="5418360"/>
            <a:ext cx="8383680" cy="15480"/>
          </a:xfrm>
          <a:custGeom>
            <a:avLst/>
            <a:gdLst/>
            <a:ahLst/>
            <a:rect l="0" t="0" r="r" b="b"/>
            <a:pathLst>
              <a:path w="23288" h="43">
                <a:moveTo>
                  <a:pt x="0" y="0"/>
                </a:moveTo>
                <a:lnTo>
                  <a:pt x="23288" y="0"/>
                </a:lnTo>
                <a:lnTo>
                  <a:pt x="23288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90000" tIns="-29520" rIns="90000" bIns="-295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2105280" y="4768920"/>
            <a:ext cx="5873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Track Diversity Benchmarks: Embed live diversity report data filters inside active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2105280" y="4941360"/>
            <a:ext cx="4056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15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recruitment workflows to support inclusive team pools.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848160" y="5484240"/>
            <a:ext cx="1987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HR ANALYTICS DASHBOARD PROJECT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8789400" y="5484240"/>
            <a:ext cx="469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SLIDE 15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847800" y="623160"/>
            <a:ext cx="72720" cy="623520"/>
          </a:xfrm>
          <a:custGeom>
            <a:avLst/>
            <a:gdLst/>
            <a:ahLst/>
            <a:rect l="0" t="0" r="r" b="b"/>
            <a:pathLst>
              <a:path w="202" h="1732">
                <a:moveTo>
                  <a:pt x="0" y="0"/>
                </a:moveTo>
                <a:lnTo>
                  <a:pt x="202" y="0"/>
                </a:lnTo>
                <a:lnTo>
                  <a:pt x="202" y="1732"/>
                </a:lnTo>
                <a:lnTo>
                  <a:pt x="0" y="1732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6217200" y="2228760"/>
            <a:ext cx="3014640" cy="1039320"/>
          </a:xfrm>
          <a:custGeom>
            <a:avLst/>
            <a:gdLst/>
            <a:ahLst/>
            <a:rect l="0" t="0" r="r" b="b"/>
            <a:pathLst>
              <a:path w="8374" h="2887">
                <a:moveTo>
                  <a:pt x="8225" y="0"/>
                </a:moveTo>
                <a:cubicBezTo>
                  <a:pt x="8306" y="0"/>
                  <a:pt x="8374" y="56"/>
                  <a:pt x="8374" y="125"/>
                </a:cubicBezTo>
                <a:lnTo>
                  <a:pt x="8374" y="2762"/>
                </a:lnTo>
                <a:cubicBezTo>
                  <a:pt x="8374" y="2830"/>
                  <a:pt x="8306" y="2887"/>
                  <a:pt x="8225" y="2887"/>
                </a:cubicBezTo>
                <a:lnTo>
                  <a:pt x="150" y="2887"/>
                </a:lnTo>
                <a:cubicBezTo>
                  <a:pt x="68" y="2887"/>
                  <a:pt x="0" y="2830"/>
                  <a:pt x="0" y="2762"/>
                </a:cubicBezTo>
                <a:lnTo>
                  <a:pt x="0" y="125"/>
                </a:lnTo>
                <a:cubicBezTo>
                  <a:pt x="0" y="56"/>
                  <a:pt x="68" y="0"/>
                  <a:pt x="150" y="0"/>
                </a:cubicBezTo>
                <a:lnTo>
                  <a:pt x="8225" y="0"/>
                </a:lnTo>
                <a:close/>
              </a:path>
            </a:pathLst>
          </a:custGeom>
          <a:solidFill>
            <a:srgbClr val="050B1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1055160" y="641880"/>
            <a:ext cx="3689640" cy="451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600" b="1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PROJECT CONCLUSION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1055160" y="1067040"/>
            <a:ext cx="6618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50" b="1" i="1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Shifting the enterprise value layer from historical intuition to empirical people analytics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848160" y="1646640"/>
            <a:ext cx="4836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5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The HR Analytics Dashboard project successfully shifts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848160" y="1856520"/>
            <a:ext cx="39139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5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modern workforce management away from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848160" y="2066760"/>
            <a:ext cx="46717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5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retrospective, intuitive tracking and moves it directly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848160" y="2276640"/>
            <a:ext cx="37278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500" b="0" u="none" strike="noStrike">
                <a:solidFill>
                  <a:srgbClr val="004B87"/>
                </a:solidFill>
                <a:effectLst/>
                <a:uFillTx/>
                <a:latin typeface="Noto Sans"/>
                <a:ea typeface="Noto Sans"/>
              </a:rPr>
              <a:t>into proactive, clear business intelligence.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848160" y="2661840"/>
            <a:ext cx="4239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Bringing disconnected database tables together into an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848160" y="2842200"/>
            <a:ext cx="4842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interactive Power BI framework gives organizational leadership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848160" y="3022200"/>
            <a:ext cx="4371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a single, reliable baseline of facts. This empirical platform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848160" y="3202200"/>
            <a:ext cx="4678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enables management to make structural choices that protect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848160" y="3382200"/>
            <a:ext cx="4659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company culture, balance reward systems fairly, and improve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848160" y="3562200"/>
            <a:ext cx="2594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050B14"/>
                </a:solidFill>
                <a:effectLst/>
                <a:uFillTx/>
                <a:latin typeface="Noto Sans"/>
                <a:ea typeface="Noto Sans"/>
              </a:rPr>
              <a:t>long-term workplace productivity.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6498000" y="2463480"/>
            <a:ext cx="25963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1" i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"By changing how we understand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>
            <a:off x="847800" y="5418360"/>
            <a:ext cx="8383680" cy="15480"/>
          </a:xfrm>
          <a:custGeom>
            <a:avLst/>
            <a:gdLst/>
            <a:ahLst/>
            <a:rect l="0" t="0" r="r" b="b"/>
            <a:pathLst>
              <a:path w="23288" h="43">
                <a:moveTo>
                  <a:pt x="0" y="0"/>
                </a:moveTo>
                <a:lnTo>
                  <a:pt x="23288" y="0"/>
                </a:lnTo>
                <a:lnTo>
                  <a:pt x="23288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1F3F"/>
          </a:solidFill>
          <a:ln w="0">
            <a:noFill/>
          </a:ln>
        </p:spPr>
        <p:txBody>
          <a:bodyPr lIns="90000" tIns="-29520" rIns="90000" bIns="-295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6452280" y="2658600"/>
            <a:ext cx="269208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1" i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workforce data, we transform how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6567840" y="2853720"/>
            <a:ext cx="244872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300" b="1" i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effectively we lead our </a:t>
            </a:r>
            <a:r>
              <a:rPr lang="en-IN" sz="1300" b="1" i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people."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848160" y="5484240"/>
            <a:ext cx="19875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HR ANALYTICS DASHBOARD PROJECT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8789400" y="5484240"/>
            <a:ext cx="469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900" b="0" u="none" strike="noStrike">
                <a:solidFill>
                  <a:srgbClr val="001F3F"/>
                </a:solidFill>
                <a:effectLst/>
                <a:uFillTx/>
                <a:latin typeface="Noto Sans"/>
                <a:ea typeface="Noto Sans"/>
              </a:rPr>
              <a:t>SLIDE 16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0" y="0"/>
            <a:ext cx="10079640" cy="5953680"/>
          </a:xfrm>
          <a:custGeom>
            <a:avLst/>
            <a:gdLst/>
            <a:ahLst/>
            <a:rect l="0" t="0" r="r" b="b"/>
            <a:pathLst>
              <a:path w="27999" h="16538">
                <a:moveTo>
                  <a:pt x="0" y="0"/>
                </a:moveTo>
                <a:lnTo>
                  <a:pt x="27999" y="0"/>
                </a:lnTo>
                <a:lnTo>
                  <a:pt x="27999" y="16538"/>
                </a:lnTo>
                <a:lnTo>
                  <a:pt x="0" y="16538"/>
                </a:lnTo>
                <a:lnTo>
                  <a:pt x="0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6" name=""/>
          <p:cNvPicPr/>
          <p:nvPr/>
        </p:nvPicPr>
        <p:blipFill>
          <a:blip r:embed="rId1"/>
          <a:stretch/>
        </p:blipFill>
        <p:spPr>
          <a:xfrm>
            <a:off x="-10079640" y="-622171800"/>
            <a:ext cx="10079280" cy="125029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7" name=""/>
          <p:cNvPicPr/>
          <p:nvPr/>
        </p:nvPicPr>
        <p:blipFill>
          <a:blip r:embed="rId2"/>
          <a:stretch/>
        </p:blipFill>
        <p:spPr>
          <a:xfrm>
            <a:off x="0" y="-622171800"/>
            <a:ext cx="10079280" cy="125029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8" name=""/>
          <p:cNvPicPr/>
          <p:nvPr/>
        </p:nvPicPr>
        <p:blipFill>
          <a:blip r:embed="rId3"/>
          <a:stretch/>
        </p:blipFill>
        <p:spPr>
          <a:xfrm>
            <a:off x="10079640" y="-622171800"/>
            <a:ext cx="10079640" cy="125029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"/>
          <p:cNvSpPr/>
          <p:nvPr/>
        </p:nvSpPr>
        <p:spPr>
          <a:xfrm>
            <a:off x="2324520" y="3034440"/>
            <a:ext cx="5430960" cy="15480"/>
          </a:xfrm>
          <a:custGeom>
            <a:avLst/>
            <a:gdLst/>
            <a:ahLst/>
            <a:rect l="0" t="0" r="r" b="b"/>
            <a:pathLst>
              <a:path w="15086" h="43">
                <a:moveTo>
                  <a:pt x="0" y="0"/>
                </a:moveTo>
                <a:lnTo>
                  <a:pt x="15086" y="0"/>
                </a:lnTo>
                <a:lnTo>
                  <a:pt x="15086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004B87"/>
          </a:solidFill>
          <a:ln w="0">
            <a:noFill/>
          </a:ln>
        </p:spPr>
        <p:txBody>
          <a:bodyPr lIns="90000" tIns="-29520" rIns="90000" bIns="-295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3105720" y="1226160"/>
            <a:ext cx="4096080" cy="899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5200" b="1" u="none" strike="noStrike">
                <a:solidFill>
                  <a:srgbClr val="F1C40F"/>
                </a:solidFill>
                <a:effectLst/>
                <a:uFillTx/>
                <a:latin typeface="Noto Sans"/>
                <a:ea typeface="Noto Sans"/>
              </a:rPr>
              <a:t>THANK YOU!</a:t>
            </a:r>
            <a:endParaRPr lang="en-IN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2205000" y="2095920"/>
            <a:ext cx="600876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1" u="none" strike="noStrike">
                <a:solidFill>
                  <a:srgbClr val="FFFFFF"/>
                </a:solidFill>
                <a:effectLst/>
                <a:uFillTx/>
                <a:latin typeface="Noto Sans"/>
                <a:ea typeface="Noto Sans"/>
              </a:rPr>
              <a:t>Open for Questions, Feedback &amp; Strategic Discussion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4105440" y="3199680"/>
            <a:ext cx="19602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200" b="1" u="none" strike="noStrike">
                <a:solidFill>
                  <a:srgbClr val="CBD5E1"/>
                </a:solidFill>
                <a:effectLst/>
                <a:uFillTx/>
                <a:latin typeface="Noto Sans"/>
                <a:ea typeface="Noto Sans"/>
              </a:rPr>
              <a:t>PREPARED BY: Keerthika 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2595960" y="3395160"/>
            <a:ext cx="5148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050" b="1" u="none" strike="noStrike">
                <a:solidFill>
                  <a:srgbClr val="CBD5E1"/>
                </a:solidFill>
                <a:effectLst/>
                <a:uFillTx/>
                <a:latin typeface="Noto Sans"/>
                <a:ea typeface="Noto Sans"/>
              </a:rPr>
              <a:t>MBA – BUSINESS ANALYTICS | KNOWLEDGE INSTITUTE OF TECHNOLOGY (KIOT)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LibreOffice/26.2.1.2$Windows_X86_64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2026-06-04T19:33:24Z</dcterms:created>
  <dc:creator/>
  <dc:description/>
  <dc:language>en-IN</dc:language>
  <cp:lastModifiedBy/>
  <dcterms:modified xsi:type="dcterms:W3CDTF">2026-06-04T19:38:46Z</dcterms:modified>
  <cp:revision>1</cp:revision>
  <dc:subject/>
  <dc:title/>
</cp:coreProperties>
</file>